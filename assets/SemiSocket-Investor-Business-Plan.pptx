
<file path=[Content_Types].xml><?xml version="1.0" encoding="utf-8"?>
<Types xmlns="http://schemas.openxmlformats.org/package/2006/content-types">
  <Default Extension="xml" ContentType="application/vnd.openxmlformats-package.core-properties+xml"/>
  <Default Extension="jp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d7f68dcbdc4bf5" /><Relationship Type="http://schemas.openxmlformats.org/officeDocument/2006/relationships/extended-properties" Target="/docProps/app.xml" Id="Rbb60667a83c2467c" /><Relationship Type="http://schemas.openxmlformats.org/officeDocument/2006/relationships/officeDocument" Target="/ppt/presentation.xml" Id="R0be3de51c9ad4d2b" /></Relationships>
</file>

<file path=ppt/presentation.xml><?xml version="1.0" encoding="utf-8"?>
<p:presentation xmlns:p="http://schemas.openxmlformats.org/presentationml/2006/main">
  <p:sldMasterIdLst>
    <p:sldMasterId xmlns:r="http://schemas.openxmlformats.org/officeDocument/2006/relationships" id="2147483648" r:id="Rcb7e4737457d4f18"/>
  </p:sldMasterIdLst>
  <p:notesMasterIdLst>
    <p:notesMasterId xmlns:r="http://schemas.openxmlformats.org/officeDocument/2006/relationships" r:id="R9102abb5bbef43be"/>
  </p:notesMasterIdLst>
  <p:sldIdLst>
    <p:sldId xmlns:r="http://schemas.openxmlformats.org/officeDocument/2006/relationships" id="256" r:id="R9c2a4b68ba38434f"/>
    <p:sldId xmlns:r="http://schemas.openxmlformats.org/officeDocument/2006/relationships" id="257" r:id="R4263cb5159c44bce"/>
    <p:sldId xmlns:r="http://schemas.openxmlformats.org/officeDocument/2006/relationships" id="258" r:id="R80cc9db5b8a44ed2"/>
    <p:sldId xmlns:r="http://schemas.openxmlformats.org/officeDocument/2006/relationships" id="259" r:id="Rd8dde439f5b94cc4"/>
    <p:sldId xmlns:r="http://schemas.openxmlformats.org/officeDocument/2006/relationships" id="260" r:id="R0fb022afe4bb4e66"/>
    <p:sldId xmlns:r="http://schemas.openxmlformats.org/officeDocument/2006/relationships" id="261" r:id="R4e3dd68e26a84199"/>
    <p:sldId xmlns:r="http://schemas.openxmlformats.org/officeDocument/2006/relationships" id="262" r:id="R6539e936773c46a9"/>
    <p:sldId xmlns:r="http://schemas.openxmlformats.org/officeDocument/2006/relationships" id="263" r:id="R7ab79da0e7864452"/>
    <p:sldId xmlns:r="http://schemas.openxmlformats.org/officeDocument/2006/relationships" id="264" r:id="Ra4afeacbc4db47bc"/>
    <p:sldId xmlns:r="http://schemas.openxmlformats.org/officeDocument/2006/relationships" id="265" r:id="R09ea5dbf7e3542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1bd325da90479a" /><Relationship Type="http://schemas.openxmlformats.org/officeDocument/2006/relationships/slideMaster" Target="/ppt/slideMasters/slideMaster1.xml" Id="Rcb7e4737457d4f18" /><Relationship Type="http://schemas.openxmlformats.org/officeDocument/2006/relationships/notesMaster" Target="/ppt/notesMasters/notesMaster1.xml" Id="R9102abb5bbef43be" /><Relationship Type="http://schemas.openxmlformats.org/officeDocument/2006/relationships/presProps" Target="/ppt/presProps.xml" Id="R8fad415053684de8" /><Relationship Type="http://schemas.openxmlformats.org/officeDocument/2006/relationships/tableStyles" Target="/ppt/tableStyles.xml" Id="Ra0ab8d2b07d84848" /><Relationship Type="http://schemas.openxmlformats.org/officeDocument/2006/relationships/slide" Target="/ppt/slides/slide1.xml" Id="R9c2a4b68ba38434f" /><Relationship Type="http://schemas.openxmlformats.org/officeDocument/2006/relationships/slide" Target="/ppt/slides/slide2.xml" Id="R4263cb5159c44bce" /><Relationship Type="http://schemas.openxmlformats.org/officeDocument/2006/relationships/slide" Target="/ppt/slides/slide3.xml" Id="R80cc9db5b8a44ed2" /><Relationship Type="http://schemas.openxmlformats.org/officeDocument/2006/relationships/slide" Target="/ppt/slides/slide4.xml" Id="Rd8dde439f5b94cc4" /><Relationship Type="http://schemas.openxmlformats.org/officeDocument/2006/relationships/slide" Target="/ppt/slides/slide5.xml" Id="R0fb022afe4bb4e66" /><Relationship Type="http://schemas.openxmlformats.org/officeDocument/2006/relationships/slide" Target="/ppt/slides/slide6.xml" Id="R4e3dd68e26a84199" /><Relationship Type="http://schemas.openxmlformats.org/officeDocument/2006/relationships/slide" Target="/ppt/slides/slide7.xml" Id="R6539e936773c46a9" /><Relationship Type="http://schemas.openxmlformats.org/officeDocument/2006/relationships/slide" Target="/ppt/slides/slide8.xml" Id="R7ab79da0e7864452" /><Relationship Type="http://schemas.openxmlformats.org/officeDocument/2006/relationships/slide" Target="/ppt/slides/slide9.xml" Id="Ra4afeacbc4db47bc" /><Relationship Type="http://schemas.openxmlformats.org/officeDocument/2006/relationships/slide" Target="/ppt/slides/slide10.xml" Id="R09ea5dbf7e3542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58a644d7b747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eece62c2e04f53" /><Relationship Type="http://schemas.openxmlformats.org/officeDocument/2006/relationships/notesMaster" Target="/ppt/notesMasters/notesMaster1.xml" Id="Rb0b6f12ec47344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22a88be94340a7" /><Relationship Type="http://schemas.openxmlformats.org/officeDocument/2006/relationships/notesMaster" Target="/ppt/notesMasters/notesMaster1.xml" Id="R0624f0c62fdc46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c92f49408d45a9" /><Relationship Type="http://schemas.openxmlformats.org/officeDocument/2006/relationships/notesMaster" Target="/ppt/notesMasters/notesMaster1.xml" Id="R2470a44029a344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27d77b98aa47a7" /><Relationship Type="http://schemas.openxmlformats.org/officeDocument/2006/relationships/notesMaster" Target="/ppt/notesMasters/notesMaster1.xml" Id="R8fd1a7924b234c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63de885f1944f1" /><Relationship Type="http://schemas.openxmlformats.org/officeDocument/2006/relationships/notesMaster" Target="/ppt/notesMasters/notesMaster1.xml" Id="R0a3b52998d0b41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d310ccfe9534c01" /><Relationship Type="http://schemas.openxmlformats.org/officeDocument/2006/relationships/notesMaster" Target="/ppt/notesMasters/notesMaster1.xml" Id="Rd616e3f20dbe46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7e6cea7bde43e8" /><Relationship Type="http://schemas.openxmlformats.org/officeDocument/2006/relationships/notesMaster" Target="/ppt/notesMasters/notesMaster1.xml" Id="Raa933592b5e54b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5047028aeb45d8" /><Relationship Type="http://schemas.openxmlformats.org/officeDocument/2006/relationships/notesMaster" Target="/ppt/notesMasters/notesMaster1.xml" Id="R03b30754381747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56856bd7394533" /><Relationship Type="http://schemas.openxmlformats.org/officeDocument/2006/relationships/notesMaster" Target="/ppt/notesMasters/notesMaster1.xml" Id="R428ede3de01345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a8434d389643ce" /><Relationship Type="http://schemas.openxmlformats.org/officeDocument/2006/relationships/notesMaster" Target="/ppt/notesMasters/notesMaster1.xml" Id="R9a1b9e58d8dd4b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artwork: user-provided SemiSocket charging station at dusk.png. AI concept rendering, not an actual station. All financial figures are illustrative planning assumptions in USD, not actual results, vendor quotes, management-approved guidance or a valuation. No committed customers, sites, funding or utility capacity have been verified. All timing is conditional on permits, utility energization and financing.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IEA (2026), Global EV Outlook 2026, Trends in other EV modes. https://www.iea.org/reports/global-ev-outlook-2026/trends-in-other-ev-modes (accessed 2026-09-29 UTC). Both medium and heavy freight trucks included. Global figures are not a US TAM. DOE National Zero-Emission Freight Corridor Strategy announcement, March 12 2024: https://www.energy.gov/articles/biden-harris-administration-releases-first-ever-national-strategy-accelerate-deployment . This is a historical strategy, not a claim of available incentives. Customer problems are hypotheses to validate with fleet interviews.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Images: user-provided White Electric Semi-Truck Charging Dispenser.png. AI concept rendering. Specifications below are proposed design assumptions, subject to engineering, OEM compatibility testing and utility approval. Charger illustrations do not establish connector compatibility or charging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go-to-market plan, not existing commitments. Candidate geographies for screening only: Inland Empire / I-10, Phoenix / I-10 and I-17, Dallas–Fort Worth / I-20 and I-35. No site control or utility capacity verified. The initial customer is a regional or drayage fleet with predictable daily routes. Target 20 discovery interviews and two anchor fleets. Proposed contracted demand floor 2.4 GWh/year equals 6,575 kWh/day or 16.4 400-kWh sessions/day. This exceeds the 1.4 GWh site operating break-even in slide 7 but does not cover corporate costs or investment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accessed 2026-09-29 UTC: Terawatt, Trucking fleets https://www.terawattinfrastructure.com/solutions/trucking-fleets ; Greenlane, Colton https://www.drivegreenlane.com/locations/colton-ca/ . Competitor descriptions summarize their published offerings. Depot ownership tradeoffs and SemiSocket positioning are analytical judgments. SemiSocket has no verified cost advantage, exclusive site rights or proprietary charging technology.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financial figures are illustrative planning assumptions in USD, not actual results, vendor quotes, management-approved guidance or a valuation. No committed customers, sites, funding or utility capacity have been verified. All timing is conditional on permits, utility energization and financing. Proposed model: SemiSocket develops and operates sites, leases land and purchases certified charging hardware and software services. Financial model assumes full ownership and consolidation of site economics, with no debt or minority share deducted. If a JV or project investor owns sites, distributions and fees must replace the consolidated scenario. Revenue excludes subscriptions, reservation charges, parking, advertising and subsidies. The $0.45/kWh realized sales rate is illustrative, with contract and ad hoc rates to be validated. Image: SemiSocket EV Charger Payment Close-Up.png, user-supplied AI concept rendering.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financial figures are illustrative planning assumptions in USD, not actual results, vendor quotes, management-approved guidance or a valuation. No committed customers, sites, funding or utility capacity have been verified. All timing is conditional on permits, utility energization and financing. Model: 400 kWh/session, 365 operating days, $0.45/kWh sales, $0.20/kWh variable costs ($0.17 electricity and losses + $0.03 payments and variable services), $350,000 annual fixed site costs ($120,000 demand charges + $120,000 lease + $110,000 maintenance/insurance/monitoring). Utility tariffs must replace both energy and demand-charge placeholders without double counting. Delivered-energy capacity factor at 2 MW = 10%, 20%, 30% for low/base/high. Annual energy = sessions/day * 400 * 365. Revenue = energy * 0.45. Site EBITDA = energy * 0.25 -350000. Break-even = 350000 / .25 / 400 /365 =9.59 sessions/day. Excludes corporate overhead, D&amp;A, tax, interest, capex and replacement reserves. At 24 sessions, capex / site EBITDA = 4500000 /526000=8.56 years, unlevered simple payback without discounting or reinvestment. +$0.05/kWh cost reduces base EBITDA by $175,200. These are screening figures, not an investor return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financial figures are illustrative planning assumptions in USD, not actual results, vendor quotes, management-approved guidance or a valuation. No committed customers, sites, funding or utility capacity have been verified. All timing is conditional on permits, utility energization and financing. All amounts USD millions unless stated otherwise. Operating site-years .5, 1.5, 3.0 represent average full-year equivalent operations, versus ending site counts 1,2,4. Average sessions/day per operating site 12,20,24. Energy GWh=.5*12*.4*365/1000=.876;1.5*20*.4*365/1000=4.38;3*24*.4*365/1000=10.512. Revenue .3942,1.971,4.7304. Site EBITDA .044,.570,1.578. Corporate overhead .600,.800,1.000. Consolidated EBITDA -.556,-.230,.578. Capex 4.5,4.5,9.0. Cumulative capex 18.0, net EBITDA -.208; funding gap 18.208 plus pre-opening development 1.5=19.708M, before working capital, financing costs, taxes and replacement reserves. Capital assumed paid in energization year for simplified scenario; actual construction cash spending precedes opening. Funding gap offsets Y3 positive EBITDA against capex; required gross/peak liquidity may be higher. Model assumes full ownership, no project debt. EBITDA is not cash flow. No opening date promised.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Nick Schrunk background based on user-provided context: founder of Nerdi and IT leadership at Montana State University. SemiSocket officer titles, equity allocation and legal entity not verified. No additional executive appointments or partner agreements are claimed. Hiring priorities, mitigations and performance targets are proposals, not completed actions. Target charger availability definition, measurement interval and exclusions require contract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financial figures are illustrative planning assumptions in USD, not actual results, vendor quotes, management-approved guidance or a valuation. No committed customers, sites, funding or utility capacity have been verified. All timing is conditional on permits, utility energization and financing. Raise amount and structure are recommendations for founder review, not a launched offering. No valuation, equity percentage or instrument specified. Proposed 12-month development uses: people and fleet development .60M, site options/engineering/permitting .45M, software integration/legal/insurance .25M, contingency .20M =1.50M. Pilot capex placeholder: charging equipment1.50M; utility connection and switchgear1.10M; civil works and basic amenities1.00M; design/commissioning.20M; contingency.70M=4.50M. Pilot assumes leased land and basic amenities; no land acquisition, solar or battery storage included. Incremental or unusual utility upgrades could exceed allowance. Development legal/studies differ from pilot detailed design/construction commissioning. Pilot financing is additional to development raise and must be committed before construction. Approval requires site rights, permit path, utility scope/tariff, priced contractor proposal, enforceable demand contracts and identified project capital. No promise of investor returns. Website: semisocket.com.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d9f8ba26d44d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713cdebe8a4718" /><Relationship Type="http://schemas.openxmlformats.org/officeDocument/2006/relationships/slideLayout" Target="/ppt/slideLayouts/slideLayout1.xml" Id="R5024d98d22894d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24d98d22894d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4827c43ee94cd5" /><Relationship Type="http://schemas.openxmlformats.org/officeDocument/2006/relationships/image" Target="/ppt/media/image.jpg" Id="R53685d3debdc4928" /><Relationship Type="http://schemas.openxmlformats.org/officeDocument/2006/relationships/notesSlide" Target="/ppt/notesSlides/notesSlide1.xml" Id="R7b32ba4888ca40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fd19d506864da4" /><Relationship Type="http://schemas.openxmlformats.org/officeDocument/2006/relationships/notesSlide" Target="/ppt/notesSlides/notesSlide2.xml" Id="R7e06fbfeb0824d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40f28d89eb4c23" /><Relationship Type="http://schemas.openxmlformats.org/officeDocument/2006/relationships/image" Target="/ppt/media/image2.jpg" Id="Re43ef0fd077f40fb" /><Relationship Type="http://schemas.openxmlformats.org/officeDocument/2006/relationships/notesSlide" Target="/ppt/notesSlides/notesSlide3.xml" Id="R75dd8ee45b4045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ea64a4e2364c43" /><Relationship Type="http://schemas.openxmlformats.org/officeDocument/2006/relationships/notesSlide" Target="/ppt/notesSlides/notesSlide4.xml" Id="R9e43a20ee93542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43e34f66054c6c" /><Relationship Type="http://schemas.openxmlformats.org/officeDocument/2006/relationships/notesSlide" Target="/ppt/notesSlides/notesSlide5.xml" Id="R5f8b2e37034d4c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dd2952e9a84dd4" /><Relationship Type="http://schemas.openxmlformats.org/officeDocument/2006/relationships/image" Target="/ppt/media/image3.jpg" Id="R384065cd4fcd46ad" /><Relationship Type="http://schemas.openxmlformats.org/officeDocument/2006/relationships/notesSlide" Target="/ppt/notesSlides/notesSlide6.xml" Id="R88e9359f690448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d857d3df794114" /><Relationship Type="http://schemas.openxmlformats.org/officeDocument/2006/relationships/notesSlide" Target="/ppt/notesSlides/notesSlide7.xml" Id="Re1b641a4524748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d22b82066134fac" /><Relationship Type="http://schemas.openxmlformats.org/officeDocument/2006/relationships/notesSlide" Target="/ppt/notesSlides/notesSlide8.xml" Id="R205b7ff422a545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2defe4c0e0e433d" /><Relationship Type="http://schemas.openxmlformats.org/officeDocument/2006/relationships/notesSlide" Target="/ppt/notesSlides/notesSlide9.xml" Id="Rd7c9d6d7bf9048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25033d86c040b9" /><Relationship Type="http://schemas.openxmlformats.org/officeDocument/2006/relationships/notesSlide" Target="/ppt/notesSlides/notesSlide10.xml" Id="R936bc8c433454061" /></Relationships>
</file>

<file path=ppt/slides/slide1.xml><?xml version="1.0" encoding="utf-8"?>
<p:sld xmlns:p="http://schemas.openxmlformats.org/presentationml/2006/main">
  <p:cSld>
    <p:bg>
      <p:bgPr>
        <a:solidFill xmlns:a="http://schemas.openxmlformats.org/drawingml/2006/main">
          <a:srgbClr val="081B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6091CB-5EFA-4674-A2C6-273220E4C4B6}"/>
              </a:ext>
            </a:extLst>
          </p:cNvPr>
          <p:cNvSpPr>
            <a:spLocks xmlns:a="http://schemas.openxmlformats.org/drawingml/2006/main" noGrp="1"/>
          </p:cNvSpPr>
          <p:nvPr/>
        </p:nvSpPr>
        <p:spPr>
          <a:xfrm xmlns:a="http://schemas.openxmlformats.org/drawingml/2006/main">
            <a:off x="552450" y="466725"/>
            <a:ext cx="1108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SemiSocket</a:t>
            </a:r>
          </a:p>
        </p:txBody>
      </p:sp>
      <p:sp>
        <p:nvSpPr>
          <p:cNvPr id="2" name="">
            <a:extLst xmlns:a="http://schemas.openxmlformats.org/drawingml/2006/main">
              <a:ext uri="{FF2B5EF4-FFF2-40B4-BE49-F238E27FC236}">
                <a16:creationId xmlns:a16="http://schemas.microsoft.com/office/drawing/2014/main" id="{5817BB93-F0E0-4CAB-93DA-A1F16E013A36}"/>
              </a:ext>
            </a:extLst>
          </p:cNvPr>
          <p:cNvSpPr>
            <a:spLocks xmlns:a="http://schemas.openxmlformats.org/drawingml/2006/main" noGrp="1"/>
          </p:cNvSpPr>
          <p:nvPr/>
        </p:nvSpPr>
        <p:spPr>
          <a:xfrm xmlns:a="http://schemas.openxmlformats.org/drawingml/2006/main">
            <a:off x="571500"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00" b="0">
                <a:solidFill>
                  <a:srgbClr val="ADC0C1"/>
                </a:solidFill>
                <a:latin typeface="DejaVu Sans"/>
                <a:ea typeface="DejaVu Sans"/>
                <a:cs typeface="DejaVu Sans"/>
              </a:defRPr>
            </a:pPr>
            <a:r>
              <a:rPr sz="900" b="0">
                <a:solidFill>
                  <a:srgbClr val="ADC0C1"/>
                </a:solidFill>
                <a:latin typeface="DejaVu Sans"/>
                <a:ea typeface="DejaVu Sans"/>
                <a:cs typeface="DejaVu Sans"/>
              </a:rPr>
              <a:t>SEMISOCKET  /  INVESTOR DISCUSSION DRAFT</a:t>
            </a:r>
          </a:p>
        </p:txBody>
      </p:sp>
      <p:sp>
        <p:nvSpPr>
          <p:cNvPr id="3" name="">
            <a:extLst xmlns:a="http://schemas.openxmlformats.org/drawingml/2006/main">
              <a:ext uri="{FF2B5EF4-FFF2-40B4-BE49-F238E27FC236}">
                <a16:creationId xmlns:a16="http://schemas.microsoft.com/office/drawing/2014/main" id="{0B79CDE5-FCD6-43F8-BB94-23E411F47DBF}"/>
              </a:ext>
            </a:extLst>
          </p:cNvPr>
          <p:cNvSpPr>
            <a:spLocks xmlns:a="http://schemas.openxmlformats.org/drawingml/2006/main" noGrp="1"/>
          </p:cNvSpPr>
          <p:nvPr/>
        </p:nvSpPr>
        <p:spPr>
          <a:xfrm xmlns:a="http://schemas.openxmlformats.org/drawingml/2006/main">
            <a:off x="11144250"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C4F23B"/>
                </a:solidFill>
                <a:latin typeface="DejaVu Sans"/>
                <a:ea typeface="DejaVu Sans"/>
                <a:cs typeface="DejaVu Sans"/>
              </a:defRPr>
            </a:pPr>
            <a:r>
              <a:rPr sz="1350" b="1">
                <a:solidFill>
                  <a:srgbClr val="C4F23B"/>
                </a:solidFill>
                <a:latin typeface="DejaVu Sans"/>
                <a:ea typeface="DejaVu Sans"/>
                <a:cs typeface="DejaVu Sans"/>
              </a:rPr>
              <a:t>01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3685d3debdc4928"/>
          <a:srcRect xmlns:a="http://schemas.openxmlformats.org/drawingml/2006/main" l="39" t="0" r="39" b="0"/>
          <a:stretch xmlns:a="http://schemas.openxmlformats.org/drawingml/2006/main">
            <a:fillRect l="0" t="0" r="0" b="0"/>
          </a:stretch>
        </p:blipFill>
        <p:spPr>
          <a:xfrm xmlns:a="http://schemas.openxmlformats.org/drawingml/2006/main">
            <a:off x="0" y="0"/>
            <a:ext cx="12192000" cy="40671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F997F07-060B-4C0B-B33D-AA60A8907EED}"/>
              </a:ext>
            </a:extLst>
          </p:cNvPr>
          <p:cNvSpPr>
            <a:spLocks xmlns:a="http://schemas.openxmlformats.org/drawingml/2006/main" noGrp="1"/>
          </p:cNvSpPr>
          <p:nvPr/>
        </p:nvSpPr>
        <p:spPr>
          <a:xfrm xmlns:a="http://schemas.openxmlformats.org/drawingml/2006/main">
            <a:off x="571500" y="440055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050" b="1">
                <a:solidFill>
                  <a:srgbClr val="FFFFFF"/>
                </a:solidFill>
                <a:latin typeface="DejaVu Sans"/>
                <a:ea typeface="DejaVu Sans"/>
                <a:cs typeface="DejaVu Sans"/>
              </a:defRPr>
            </a:pPr>
            <a:r>
              <a:rPr sz="4050" b="1">
                <a:solidFill>
                  <a:srgbClr val="FFFFFF"/>
                </a:solidFill>
                <a:latin typeface="DejaVu Sans"/>
                <a:ea typeface="DejaVu Sans"/>
                <a:cs typeface="DejaVu Sans"/>
              </a:rPr>
              <a:t>Investor business plan</a:t>
            </a:r>
          </a:p>
        </p:txBody>
      </p:sp>
      <p:sp>
        <p:nvSpPr>
          <p:cNvPr id="6" name="">
            <a:extLst xmlns:a="http://schemas.openxmlformats.org/drawingml/2006/main">
              <a:ext uri="{FF2B5EF4-FFF2-40B4-BE49-F238E27FC236}">
                <a16:creationId xmlns:a16="http://schemas.microsoft.com/office/drawing/2014/main" id="{22E4830F-0E5C-487A-A387-1AA19B393157}"/>
              </a:ext>
            </a:extLst>
          </p:cNvPr>
          <p:cNvSpPr>
            <a:spLocks xmlns:a="http://schemas.openxmlformats.org/drawingml/2006/main" noGrp="1"/>
          </p:cNvSpPr>
          <p:nvPr/>
        </p:nvSpPr>
        <p:spPr>
          <a:xfrm xmlns:a="http://schemas.openxmlformats.org/drawingml/2006/main">
            <a:off x="590550" y="5267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D4E0DE"/>
                </a:solidFill>
                <a:latin typeface="DejaVu Sans"/>
                <a:ea typeface="DejaVu Sans"/>
                <a:cs typeface="DejaVu Sans"/>
              </a:defRPr>
            </a:pPr>
            <a:r>
              <a:rPr sz="2100" b="0">
                <a:solidFill>
                  <a:srgbClr val="D4E0DE"/>
                </a:solidFill>
                <a:latin typeface="DejaVu Sans"/>
                <a:ea typeface="DejaVu Sans"/>
                <a:cs typeface="DejaVu Sans"/>
              </a:rPr>
              <a:t>A proposed charging network for electric semi-trucks</a:t>
            </a:r>
          </a:p>
        </p:txBody>
      </p:sp>
      <p:sp>
        <p:nvSpPr>
          <p:cNvPr id="7" name="">
            <a:extLst xmlns:a="http://schemas.openxmlformats.org/drawingml/2006/main">
              <a:ext uri="{FF2B5EF4-FFF2-40B4-BE49-F238E27FC236}">
                <a16:creationId xmlns:a16="http://schemas.microsoft.com/office/drawing/2014/main" id="{76DA933E-A349-4751-8F82-FD607F6D56B5}"/>
              </a:ext>
            </a:extLst>
          </p:cNvPr>
          <p:cNvSpPr>
            <a:spLocks xmlns:a="http://schemas.openxmlformats.org/drawingml/2006/main" noGrp="1"/>
          </p:cNvSpPr>
          <p:nvPr/>
        </p:nvSpPr>
        <p:spPr>
          <a:xfrm xmlns:a="http://schemas.openxmlformats.org/drawingml/2006/main">
            <a:off x="590550" y="58864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C4F23B"/>
                </a:solidFill>
                <a:latin typeface="DejaVu Sans"/>
                <a:ea typeface="DejaVu Sans"/>
                <a:cs typeface="DejaVu Sans"/>
              </a:defRPr>
            </a:pPr>
            <a:r>
              <a:rPr sz="1425" b="0">
                <a:solidFill>
                  <a:srgbClr val="C4F23B"/>
                </a:solidFill>
                <a:latin typeface="DejaVu Sans"/>
                <a:ea typeface="DejaVu Sans"/>
                <a:cs typeface="DejaVu Sans"/>
              </a:rPr>
              <a:t>semisocket.com   /   September 2026   /   Concept-stage draft</a:t>
            </a:r>
          </a:p>
        </p:txBody>
      </p:sp>
    </p:spTree>
    <p:extLst>
      <p:ext uri="{BB962C8B-B14F-4D97-AF65-F5344CB8AC3E}">
        <p14:creationId xmlns:p14="http://schemas.microsoft.com/office/powerpoint/2010/main" val="7672445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E457176-7423-4FFA-8C9B-03547EDD8BE5}"/>
              </a:ext>
            </a:extLst>
          </p:cNvPr>
          <p:cNvSpPr>
            <a:spLocks xmlns:a="http://schemas.openxmlformats.org/drawingml/2006/main" noGrp="1"/>
          </p:cNvSpPr>
          <p:nvPr/>
        </p:nvSpPr>
        <p:spPr>
          <a:xfrm xmlns:a="http://schemas.openxmlformats.org/drawingml/2006/main">
            <a:off x="552450" y="466725"/>
            <a:ext cx="1108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42C33"/>
                </a:solidFill>
                <a:latin typeface="DejaVu Sans"/>
                <a:ea typeface="DejaVu Sans"/>
                <a:cs typeface="DejaVu Sans"/>
              </a:defRPr>
            </a:pPr>
            <a:r>
              <a:rPr sz="3300" b="1">
                <a:solidFill>
                  <a:srgbClr val="142C33"/>
                </a:solidFill>
                <a:latin typeface="DejaVu Sans"/>
                <a:ea typeface="DejaVu Sans"/>
                <a:cs typeface="DejaVu Sans"/>
              </a:rPr>
              <a:t>The opportunity in electric freight</a:t>
            </a:r>
          </a:p>
        </p:txBody>
      </p:sp>
      <p:sp>
        <p:nvSpPr>
          <p:cNvPr id="2" name="">
            <a:extLst xmlns:a="http://schemas.openxmlformats.org/drawingml/2006/main">
              <a:ext uri="{FF2B5EF4-FFF2-40B4-BE49-F238E27FC236}">
                <a16:creationId xmlns:a16="http://schemas.microsoft.com/office/drawing/2014/main" id="{2B02EB78-5980-4B79-8CAB-91CB0B1A71C2}"/>
              </a:ext>
            </a:extLst>
          </p:cNvPr>
          <p:cNvSpPr>
            <a:spLocks xmlns:a="http://schemas.openxmlformats.org/drawingml/2006/main" noGrp="1"/>
          </p:cNvSpPr>
          <p:nvPr/>
        </p:nvSpPr>
        <p:spPr>
          <a:xfrm xmlns:a="http://schemas.openxmlformats.org/drawingml/2006/main">
            <a:off x="571500" y="14859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6B"/>
                </a:solidFill>
                <a:latin typeface="DejaVu Sans"/>
                <a:ea typeface="DejaVu Sans"/>
                <a:cs typeface="DejaVu Sans"/>
              </a:defRPr>
            </a:pPr>
            <a:r>
              <a:rPr sz="1725" b="0">
                <a:solidFill>
                  <a:srgbClr val="56676B"/>
                </a:solidFill>
                <a:latin typeface="DejaVu Sans"/>
                <a:ea typeface="DejaVu Sans"/>
                <a:cs typeface="DejaVu Sans"/>
              </a:rPr>
              <a:t>Fleet adoption creates demand for charging that fits commercial routes.</a:t>
            </a:r>
          </a:p>
        </p:txBody>
      </p:sp>
      <p:sp>
        <p:nvSpPr>
          <p:cNvPr id="3" name="">
            <a:extLst xmlns:a="http://schemas.openxmlformats.org/drawingml/2006/main">
              <a:ext uri="{FF2B5EF4-FFF2-40B4-BE49-F238E27FC236}">
                <a16:creationId xmlns:a16="http://schemas.microsoft.com/office/drawing/2014/main" id="{46FB290E-09C8-41BD-A278-8FCEC538E339}"/>
              </a:ext>
            </a:extLst>
          </p:cNvPr>
          <p:cNvSpPr>
            <a:spLocks xmlns:a="http://schemas.openxmlformats.org/drawingml/2006/main" noGrp="1"/>
          </p:cNvSpPr>
          <p:nvPr/>
        </p:nvSpPr>
        <p:spPr>
          <a:xfrm xmlns:a="http://schemas.openxmlformats.org/drawingml/2006/main">
            <a:off x="571500"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00" b="0">
                <a:solidFill>
                  <a:srgbClr val="56676B"/>
                </a:solidFill>
                <a:latin typeface="DejaVu Sans"/>
                <a:ea typeface="DejaVu Sans"/>
                <a:cs typeface="DejaVu Sans"/>
              </a:defRPr>
            </a:pPr>
            <a:r>
              <a:rPr sz="900" b="0">
                <a:solidFill>
                  <a:srgbClr val="56676B"/>
                </a:solidFill>
                <a:latin typeface="DejaVu Sans"/>
                <a:ea typeface="DejaVu Sans"/>
                <a:cs typeface="DejaVu Sans"/>
              </a:rPr>
              <a:t>SEMISOCKET  /  INVESTOR DISCUSSION DRAFT</a:t>
            </a:r>
          </a:p>
        </p:txBody>
      </p:sp>
      <p:sp>
        <p:nvSpPr>
          <p:cNvPr id="4" name="">
            <a:extLst xmlns:a="http://schemas.openxmlformats.org/drawingml/2006/main">
              <a:ext uri="{FF2B5EF4-FFF2-40B4-BE49-F238E27FC236}">
                <a16:creationId xmlns:a16="http://schemas.microsoft.com/office/drawing/2014/main" id="{AFDC71A6-BEFD-49B7-AF3F-4C33D28AC512}"/>
              </a:ext>
            </a:extLst>
          </p:cNvPr>
          <p:cNvSpPr>
            <a:spLocks xmlns:a="http://schemas.openxmlformats.org/drawingml/2006/main" noGrp="1"/>
          </p:cNvSpPr>
          <p:nvPr/>
        </p:nvSpPr>
        <p:spPr>
          <a:xfrm xmlns:a="http://schemas.openxmlformats.org/drawingml/2006/main">
            <a:off x="11144250"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142C33"/>
                </a:solidFill>
                <a:latin typeface="DejaVu Sans"/>
                <a:ea typeface="DejaVu Sans"/>
                <a:cs typeface="DejaVu Sans"/>
              </a:defRPr>
            </a:pPr>
            <a:r>
              <a:rPr sz="1350" b="1">
                <a:solidFill>
                  <a:srgbClr val="142C33"/>
                </a:solidFill>
                <a:latin typeface="DejaVu Sans"/>
                <a:ea typeface="DejaVu Sans"/>
                <a:cs typeface="DejaVu Sans"/>
              </a:rPr>
              <a:t>02</a:t>
            </a:r>
          </a:p>
        </p:txBody>
      </p:sp>
      <p:sp>
        <p:nvSpPr>
          <p:cNvPr id="5" name="">
            <a:extLst xmlns:a="http://schemas.openxmlformats.org/drawingml/2006/main">
              <a:ext uri="{FF2B5EF4-FFF2-40B4-BE49-F238E27FC236}">
                <a16:creationId xmlns:a16="http://schemas.microsoft.com/office/drawing/2014/main" id="{DFD6CC51-2EBC-4FE0-A285-DF10EA945846}"/>
              </a:ext>
            </a:extLst>
          </p:cNvPr>
          <p:cNvSpPr>
            <a:spLocks xmlns:a="http://schemas.openxmlformats.org/drawingml/2006/main" noGrp="1"/>
          </p:cNvSpPr>
          <p:nvPr/>
        </p:nvSpPr>
        <p:spPr>
          <a:xfrm xmlns:a="http://schemas.openxmlformats.org/drawingml/2006/main">
            <a:off x="571500" y="2362200"/>
            <a:ext cx="4476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100" b="1">
                <a:solidFill>
                  <a:srgbClr val="142C33"/>
                </a:solidFill>
                <a:latin typeface="DejaVu Sans"/>
                <a:ea typeface="DejaVu Sans"/>
                <a:cs typeface="DejaVu Sans"/>
              </a:defRPr>
            </a:pPr>
            <a:r>
              <a:rPr sz="5100" b="1">
                <a:solidFill>
                  <a:srgbClr val="142C33"/>
                </a:solidFill>
                <a:latin typeface="DejaVu Sans"/>
                <a:ea typeface="DejaVu Sans"/>
                <a:cs typeface="DejaVu Sans"/>
              </a:rPr>
              <a:t>400,000+</a:t>
            </a:r>
          </a:p>
        </p:txBody>
      </p:sp>
      <p:sp>
        <p:nvSpPr>
          <p:cNvPr id="6" name="">
            <a:extLst xmlns:a="http://schemas.openxmlformats.org/drawingml/2006/main">
              <a:ext uri="{FF2B5EF4-FFF2-40B4-BE49-F238E27FC236}">
                <a16:creationId xmlns:a16="http://schemas.microsoft.com/office/drawing/2014/main" id="{4BBF7944-ABB3-4F2E-9A1D-4842A952D06B}"/>
              </a:ext>
            </a:extLst>
          </p:cNvPr>
          <p:cNvSpPr>
            <a:spLocks xmlns:a="http://schemas.openxmlformats.org/drawingml/2006/main" noGrp="1"/>
          </p:cNvSpPr>
          <p:nvPr/>
        </p:nvSpPr>
        <p:spPr>
          <a:xfrm xmlns:a="http://schemas.openxmlformats.org/drawingml/2006/main">
            <a:off x="590550" y="32385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42C33"/>
                </a:solidFill>
                <a:latin typeface="DejaVu Sans"/>
                <a:ea typeface="DejaVu Sans"/>
                <a:cs typeface="DejaVu Sans"/>
              </a:defRPr>
            </a:pPr>
            <a:r>
              <a:rPr sz="2025" b="1">
                <a:solidFill>
                  <a:srgbClr val="142C33"/>
                </a:solidFill>
                <a:latin typeface="DejaVu Sans"/>
                <a:ea typeface="DejaVu Sans"/>
                <a:cs typeface="DejaVu Sans"/>
              </a:rPr>
              <a:t>electric trucks sold globally in 2025</a:t>
            </a:r>
          </a:p>
        </p:txBody>
      </p:sp>
      <p:sp>
        <p:nvSpPr>
          <p:cNvPr id="7" name="">
            <a:extLst xmlns:a="http://schemas.openxmlformats.org/drawingml/2006/main">
              <a:ext uri="{FF2B5EF4-FFF2-40B4-BE49-F238E27FC236}">
                <a16:creationId xmlns:a16="http://schemas.microsoft.com/office/drawing/2014/main" id="{CD4232A9-C583-4969-8B70-43ADDA0EA6A0}"/>
              </a:ext>
            </a:extLst>
          </p:cNvPr>
          <p:cNvSpPr>
            <a:spLocks xmlns:a="http://schemas.openxmlformats.org/drawingml/2006/main" noGrp="1"/>
          </p:cNvSpPr>
          <p:nvPr/>
        </p:nvSpPr>
        <p:spPr>
          <a:xfrm xmlns:a="http://schemas.openxmlformats.org/drawingml/2006/main">
            <a:off x="590550" y="3990975"/>
            <a:ext cx="4762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56676B"/>
                </a:solidFill>
                <a:latin typeface="DejaVu Sans"/>
                <a:ea typeface="DejaVu Sans"/>
                <a:cs typeface="DejaVu Sans"/>
              </a:defRPr>
            </a:pPr>
            <a:r>
              <a:rPr sz="1875" b="0">
                <a:solidFill>
                  <a:srgbClr val="56676B"/>
                </a:solidFill>
                <a:latin typeface="DejaVu Sans"/>
                <a:ea typeface="DejaVu Sans"/>
                <a:cs typeface="DejaVu Sans"/>
              </a:rPr>
              <a:t>IEA reports a 9% global sales share. China represented over 90% of electric truck sales.</a:t>
            </a:r>
          </a:p>
        </p:txBody>
      </p:sp>
      <p:sp>
        <p:nvSpPr>
          <p:cNvPr id="8" name="">
            <a:extLst xmlns:a="http://schemas.openxmlformats.org/drawingml/2006/main">
              <a:ext uri="{FF2B5EF4-FFF2-40B4-BE49-F238E27FC236}">
                <a16:creationId xmlns:a16="http://schemas.microsoft.com/office/drawing/2014/main" id="{978286D3-1E70-494C-8065-8BEAFF9FA8FE}"/>
              </a:ext>
            </a:extLst>
          </p:cNvPr>
          <p:cNvSpPr>
            <a:spLocks xmlns:a="http://schemas.openxmlformats.org/drawingml/2006/main" noGrp="1"/>
          </p:cNvSpPr>
          <p:nvPr/>
        </p:nvSpPr>
        <p:spPr>
          <a:xfrm xmlns:a="http://schemas.openxmlformats.org/drawingml/2006/main">
            <a:off x="6343650" y="23336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42C33"/>
                </a:solidFill>
                <a:latin typeface="DejaVu Sans"/>
                <a:ea typeface="DejaVu Sans"/>
                <a:cs typeface="DejaVu Sans"/>
              </a:defRPr>
            </a:pPr>
            <a:r>
              <a:rPr sz="2025" b="1">
                <a:solidFill>
                  <a:srgbClr val="142C33"/>
                </a:solidFill>
                <a:latin typeface="DejaVu Sans"/>
                <a:ea typeface="DejaVu Sans"/>
                <a:cs typeface="DejaVu Sans"/>
              </a:rPr>
              <a:t>The customer problem</a:t>
            </a:r>
          </a:p>
        </p:txBody>
      </p:sp>
      <p:sp>
        <p:nvSpPr>
          <p:cNvPr id="9" name="">
            <a:extLst xmlns:a="http://schemas.openxmlformats.org/drawingml/2006/main">
              <a:ext uri="{FF2B5EF4-FFF2-40B4-BE49-F238E27FC236}">
                <a16:creationId xmlns:a16="http://schemas.microsoft.com/office/drawing/2014/main" id="{D4A03363-CD2A-430B-BB8B-22E8299DD645}"/>
              </a:ext>
            </a:extLst>
          </p:cNvPr>
          <p:cNvSpPr>
            <a:spLocks xmlns:a="http://schemas.openxmlformats.org/drawingml/2006/main" noGrp="1"/>
          </p:cNvSpPr>
          <p:nvPr/>
        </p:nvSpPr>
        <p:spPr>
          <a:xfrm xmlns:a="http://schemas.openxmlformats.org/drawingml/2006/main">
            <a:off x="6343650" y="2790825"/>
            <a:ext cx="5095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6B"/>
                </a:solidFill>
                <a:latin typeface="DejaVu Sans"/>
                <a:ea typeface="DejaVu Sans"/>
                <a:cs typeface="DejaVu Sans"/>
              </a:defRPr>
            </a:pPr>
            <a:r>
              <a:rPr sz="1800" b="0">
                <a:solidFill>
                  <a:srgbClr val="56676B"/>
                </a:solidFill>
                <a:latin typeface="DejaVu Sans"/>
                <a:ea typeface="DejaVu Sans"/>
                <a:cs typeface="DejaVu Sans"/>
              </a:rPr>
              <a:t>Fleets need dependable charging without rebuilding every depot or risking route delays.</a:t>
            </a:r>
          </a:p>
        </p:txBody>
      </p:sp>
      <p:sp>
        <p:nvSpPr>
          <p:cNvPr id="10" name="">
            <a:extLst xmlns:a="http://schemas.openxmlformats.org/drawingml/2006/main">
              <a:ext uri="{FF2B5EF4-FFF2-40B4-BE49-F238E27FC236}">
                <a16:creationId xmlns:a16="http://schemas.microsoft.com/office/drawing/2014/main" id="{A91450D7-3F9F-40B9-BA8F-81F0C18C2CD2}"/>
              </a:ext>
            </a:extLst>
          </p:cNvPr>
          <p:cNvSpPr>
            <a:spLocks xmlns:a="http://schemas.openxmlformats.org/drawingml/2006/main" noGrp="1"/>
          </p:cNvSpPr>
          <p:nvPr/>
        </p:nvSpPr>
        <p:spPr>
          <a:xfrm xmlns:a="http://schemas.openxmlformats.org/drawingml/2006/main">
            <a:off x="6343650" y="416242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42C33"/>
                </a:solidFill>
                <a:latin typeface="DejaVu Sans"/>
                <a:ea typeface="DejaVu Sans"/>
                <a:cs typeface="DejaVu Sans"/>
              </a:defRPr>
            </a:pPr>
            <a:r>
              <a:rPr sz="2025" b="1">
                <a:solidFill>
                  <a:srgbClr val="142C33"/>
                </a:solidFill>
                <a:latin typeface="DejaVu Sans"/>
                <a:ea typeface="DejaVu Sans"/>
                <a:cs typeface="DejaVu Sans"/>
              </a:rPr>
              <a:t>SemiSocket’s entry point</a:t>
            </a:r>
          </a:p>
        </p:txBody>
      </p:sp>
      <p:sp>
        <p:nvSpPr>
          <p:cNvPr id="11" name="">
            <a:extLst xmlns:a="http://schemas.openxmlformats.org/drawingml/2006/main">
              <a:ext uri="{FF2B5EF4-FFF2-40B4-BE49-F238E27FC236}">
                <a16:creationId xmlns:a16="http://schemas.microsoft.com/office/drawing/2014/main" id="{044E06CE-3100-46DE-AE6F-A2F80EA3492E}"/>
              </a:ext>
            </a:extLst>
          </p:cNvPr>
          <p:cNvSpPr>
            <a:spLocks xmlns:a="http://schemas.openxmlformats.org/drawingml/2006/main" noGrp="1"/>
          </p:cNvSpPr>
          <p:nvPr/>
        </p:nvSpPr>
        <p:spPr>
          <a:xfrm xmlns:a="http://schemas.openxmlformats.org/drawingml/2006/main">
            <a:off x="6343650" y="4619625"/>
            <a:ext cx="5095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6B"/>
                </a:solidFill>
                <a:latin typeface="DejaVu Sans"/>
                <a:ea typeface="DejaVu Sans"/>
                <a:cs typeface="DejaVu Sans"/>
              </a:defRPr>
            </a:pPr>
            <a:r>
              <a:rPr sz="1800" b="0">
                <a:solidFill>
                  <a:srgbClr val="56676B"/>
                </a:solidFill>
                <a:latin typeface="DejaVu Sans"/>
                <a:ea typeface="DejaVu Sans"/>
                <a:cs typeface="DejaVu Sans"/>
              </a:rPr>
              <a:t>Shared hubs for repeat regional routes, with fleet reservations and predictable billing.</a:t>
            </a:r>
          </a:p>
        </p:txBody>
      </p:sp>
      <p:sp>
        <p:nvSpPr>
          <p:cNvPr id="12" name="">
            <a:extLst xmlns:a="http://schemas.openxmlformats.org/drawingml/2006/main">
              <a:ext uri="{FF2B5EF4-FFF2-40B4-BE49-F238E27FC236}">
                <a16:creationId xmlns:a16="http://schemas.microsoft.com/office/drawing/2014/main" id="{599C5B37-20B7-440C-81B9-5E068B5C1C88}"/>
              </a:ext>
            </a:extLst>
          </p:cNvPr>
          <p:cNvSpPr>
            <a:spLocks xmlns:a="http://schemas.openxmlformats.org/drawingml/2006/main" noGrp="1"/>
          </p:cNvSpPr>
          <p:nvPr/>
        </p:nvSpPr>
        <p:spPr>
          <a:xfrm xmlns:a="http://schemas.openxmlformats.org/drawingml/2006/main">
            <a:off x="590550" y="5591175"/>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6B"/>
                </a:solidFill>
                <a:latin typeface="DejaVu Sans"/>
                <a:ea typeface="DejaVu Sans"/>
                <a:cs typeface="DejaVu Sans"/>
              </a:defRPr>
            </a:pPr>
            <a:r>
              <a:rPr sz="1725" b="0">
                <a:solidFill>
                  <a:srgbClr val="56676B"/>
                </a:solidFill>
                <a:latin typeface="DejaVu Sans"/>
                <a:ea typeface="DejaVu Sans"/>
                <a:cs typeface="DejaVu Sans"/>
              </a:rPr>
              <a:t>Global growth is context. Local fleet demand must justify each US site.</a:t>
            </a:r>
          </a:p>
        </p:txBody>
      </p:sp>
      <p:sp>
        <p:nvSpPr>
          <p:cNvPr id="13" name="">
            <a:extLst xmlns:a="http://schemas.openxmlformats.org/drawingml/2006/main">
              <a:ext uri="{FF2B5EF4-FFF2-40B4-BE49-F238E27FC236}">
                <a16:creationId xmlns:a16="http://schemas.microsoft.com/office/drawing/2014/main" id="{61E4BE88-4AFA-4672-A095-B09C7AFBE412}"/>
              </a:ext>
            </a:extLst>
          </p:cNvPr>
          <p:cNvSpPr>
            <a:spLocks xmlns:a="http://schemas.openxmlformats.org/drawingml/2006/main" noGrp="1"/>
          </p:cNvSpPr>
          <p:nvPr/>
        </p:nvSpPr>
        <p:spPr>
          <a:xfrm xmlns:a="http://schemas.openxmlformats.org/drawingml/2006/main">
            <a:off x="590550" y="6076950"/>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6676B"/>
                </a:solidFill>
                <a:latin typeface="DejaVu Sans"/>
                <a:ea typeface="DejaVu Sans"/>
                <a:cs typeface="DejaVu Sans"/>
              </a:defRPr>
            </a:pPr>
            <a:r>
              <a:rPr sz="1125" b="0">
                <a:solidFill>
                  <a:srgbClr val="56676B"/>
                </a:solidFill>
                <a:latin typeface="DejaVu Sans"/>
                <a:ea typeface="DejaVu Sans"/>
                <a:cs typeface="DejaVu Sans"/>
              </a:rPr>
              <a:t>Source: IEA, Global EV Outlook 2026, Trends in other EV modes (medium and heavy trucks).</a:t>
            </a:r>
          </a:p>
        </p:txBody>
      </p:sp>
    </p:spTree>
    <p:extLst>
      <p:ext uri="{BB962C8B-B14F-4D97-AF65-F5344CB8AC3E}">
        <p14:creationId xmlns:p14="http://schemas.microsoft.com/office/powerpoint/2010/main" val="9092069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8929D4-FA17-4225-93D5-757AEDB6BA74}"/>
              </a:ext>
            </a:extLst>
          </p:cNvPr>
          <p:cNvSpPr>
            <a:spLocks xmlns:a="http://schemas.openxmlformats.org/drawingml/2006/main" noGrp="1"/>
          </p:cNvSpPr>
          <p:nvPr/>
        </p:nvSpPr>
        <p:spPr>
          <a:xfrm xmlns:a="http://schemas.openxmlformats.org/drawingml/2006/main">
            <a:off x="552450" y="466725"/>
            <a:ext cx="1108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42C33"/>
                </a:solidFill>
                <a:latin typeface="DejaVu Sans"/>
                <a:ea typeface="DejaVu Sans"/>
                <a:cs typeface="DejaVu Sans"/>
              </a:defRPr>
            </a:pPr>
            <a:r>
              <a:rPr sz="3300" b="1">
                <a:solidFill>
                  <a:srgbClr val="142C33"/>
                </a:solidFill>
                <a:latin typeface="DejaVu Sans"/>
                <a:ea typeface="DejaVu Sans"/>
                <a:cs typeface="DejaVu Sans"/>
              </a:rPr>
              <a:t>The SemiSocket station</a:t>
            </a:r>
          </a:p>
        </p:txBody>
      </p:sp>
      <p:sp>
        <p:nvSpPr>
          <p:cNvPr id="2" name="">
            <a:extLst xmlns:a="http://schemas.openxmlformats.org/drawingml/2006/main">
              <a:ext uri="{FF2B5EF4-FFF2-40B4-BE49-F238E27FC236}">
                <a16:creationId xmlns:a16="http://schemas.microsoft.com/office/drawing/2014/main" id="{87D46EAA-2360-43B7-ABC7-123D2C7D4A2F}"/>
              </a:ext>
            </a:extLst>
          </p:cNvPr>
          <p:cNvSpPr>
            <a:spLocks xmlns:a="http://schemas.openxmlformats.org/drawingml/2006/main" noGrp="1"/>
          </p:cNvSpPr>
          <p:nvPr/>
        </p:nvSpPr>
        <p:spPr>
          <a:xfrm xmlns:a="http://schemas.openxmlformats.org/drawingml/2006/main">
            <a:off x="571500" y="14859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6B"/>
                </a:solidFill>
                <a:latin typeface="DejaVu Sans"/>
                <a:ea typeface="DejaVu Sans"/>
                <a:cs typeface="DejaVu Sans"/>
              </a:defRPr>
            </a:pPr>
            <a:r>
              <a:rPr sz="1725" b="0">
                <a:solidFill>
                  <a:srgbClr val="56676B"/>
                </a:solidFill>
                <a:latin typeface="DejaVu Sans"/>
                <a:ea typeface="DejaVu Sans"/>
                <a:cs typeface="DejaVu Sans"/>
              </a:rPr>
              <a:t>A familiar fuel-stop experience designed around trucks and trailers.</a:t>
            </a:r>
          </a:p>
        </p:txBody>
      </p:sp>
      <p:sp>
        <p:nvSpPr>
          <p:cNvPr id="3" name="">
            <a:extLst xmlns:a="http://schemas.openxmlformats.org/drawingml/2006/main">
              <a:ext uri="{FF2B5EF4-FFF2-40B4-BE49-F238E27FC236}">
                <a16:creationId xmlns:a16="http://schemas.microsoft.com/office/drawing/2014/main" id="{9091E118-DED2-438D-BE38-57E795344BEA}"/>
              </a:ext>
            </a:extLst>
          </p:cNvPr>
          <p:cNvSpPr>
            <a:spLocks xmlns:a="http://schemas.openxmlformats.org/drawingml/2006/main" noGrp="1"/>
          </p:cNvSpPr>
          <p:nvPr/>
        </p:nvSpPr>
        <p:spPr>
          <a:xfrm xmlns:a="http://schemas.openxmlformats.org/drawingml/2006/main">
            <a:off x="571500"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00" b="0">
                <a:solidFill>
                  <a:srgbClr val="56676B"/>
                </a:solidFill>
                <a:latin typeface="DejaVu Sans"/>
                <a:ea typeface="DejaVu Sans"/>
                <a:cs typeface="DejaVu Sans"/>
              </a:defRPr>
            </a:pPr>
            <a:r>
              <a:rPr sz="900" b="0">
                <a:solidFill>
                  <a:srgbClr val="56676B"/>
                </a:solidFill>
                <a:latin typeface="DejaVu Sans"/>
                <a:ea typeface="DejaVu Sans"/>
                <a:cs typeface="DejaVu Sans"/>
              </a:rPr>
              <a:t>SEMISOCKET  /  INVESTOR DISCUSSION DRAFT</a:t>
            </a:r>
          </a:p>
        </p:txBody>
      </p:sp>
      <p:sp>
        <p:nvSpPr>
          <p:cNvPr id="4" name="">
            <a:extLst xmlns:a="http://schemas.openxmlformats.org/drawingml/2006/main">
              <a:ext uri="{FF2B5EF4-FFF2-40B4-BE49-F238E27FC236}">
                <a16:creationId xmlns:a16="http://schemas.microsoft.com/office/drawing/2014/main" id="{ADEE6CCB-DEAB-4810-BF55-B4D9035881D6}"/>
              </a:ext>
            </a:extLst>
          </p:cNvPr>
          <p:cNvSpPr>
            <a:spLocks xmlns:a="http://schemas.openxmlformats.org/drawingml/2006/main" noGrp="1"/>
          </p:cNvSpPr>
          <p:nvPr/>
        </p:nvSpPr>
        <p:spPr>
          <a:xfrm xmlns:a="http://schemas.openxmlformats.org/drawingml/2006/main">
            <a:off x="11144250"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142C33"/>
                </a:solidFill>
                <a:latin typeface="DejaVu Sans"/>
                <a:ea typeface="DejaVu Sans"/>
                <a:cs typeface="DejaVu Sans"/>
              </a:defRPr>
            </a:pPr>
            <a:r>
              <a:rPr sz="1350" b="1">
                <a:solidFill>
                  <a:srgbClr val="142C33"/>
                </a:solidFill>
                <a:latin typeface="DejaVu Sans"/>
                <a:ea typeface="DejaVu Sans"/>
                <a:cs typeface="DejaVu Sans"/>
              </a:rPr>
              <a:t>03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43ef0fd077f40fb"/>
          <a:srcRect xmlns:a="http://schemas.openxmlformats.org/drawingml/2006/main" l="0" t="132" r="0" b="132"/>
          <a:stretch xmlns:a="http://schemas.openxmlformats.org/drawingml/2006/main">
            <a:fillRect l="0" t="0" r="0" b="0"/>
          </a:stretch>
        </p:blipFill>
        <p:spPr>
          <a:xfrm xmlns:a="http://schemas.openxmlformats.org/drawingml/2006/main">
            <a:off x="6191250" y="2200275"/>
            <a:ext cx="5429250" cy="36099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34711CF-30D1-4810-BA54-92BBB9CE8AD8}"/>
              </a:ext>
            </a:extLst>
          </p:cNvPr>
          <p:cNvSpPr>
            <a:spLocks xmlns:a="http://schemas.openxmlformats.org/drawingml/2006/main" noGrp="1"/>
          </p:cNvSpPr>
          <p:nvPr/>
        </p:nvSpPr>
        <p:spPr>
          <a:xfrm xmlns:a="http://schemas.openxmlformats.org/drawingml/2006/main">
            <a:off x="571500" y="229552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42C33"/>
                </a:solidFill>
                <a:latin typeface="DejaVu Sans"/>
                <a:ea typeface="DejaVu Sans"/>
                <a:cs typeface="DejaVu Sans"/>
              </a:defRPr>
            </a:pPr>
            <a:r>
              <a:rPr sz="2025" b="1">
                <a:solidFill>
                  <a:srgbClr val="142C33"/>
                </a:solidFill>
                <a:latin typeface="DejaVu Sans"/>
                <a:ea typeface="DejaVu Sans"/>
                <a:cs typeface="DejaVu Sans"/>
              </a:rPr>
              <a:t>Six pull-through charging bays</a:t>
            </a:r>
          </a:p>
        </p:txBody>
      </p:sp>
      <p:sp>
        <p:nvSpPr>
          <p:cNvPr id="7" name="">
            <a:extLst xmlns:a="http://schemas.openxmlformats.org/drawingml/2006/main">
              <a:ext uri="{FF2B5EF4-FFF2-40B4-BE49-F238E27FC236}">
                <a16:creationId xmlns:a16="http://schemas.microsoft.com/office/drawing/2014/main" id="{4972ED83-43A7-45C1-AA28-2EBFF8263C00}"/>
              </a:ext>
            </a:extLst>
          </p:cNvPr>
          <p:cNvSpPr>
            <a:spLocks xmlns:a="http://schemas.openxmlformats.org/drawingml/2006/main" noGrp="1"/>
          </p:cNvSpPr>
          <p:nvPr/>
        </p:nvSpPr>
        <p:spPr>
          <a:xfrm xmlns:a="http://schemas.openxmlformats.org/drawingml/2006/main">
            <a:off x="571500" y="2752725"/>
            <a:ext cx="5191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6B"/>
                </a:solidFill>
                <a:latin typeface="DejaVu Sans"/>
                <a:ea typeface="DejaVu Sans"/>
                <a:cs typeface="DejaVu Sans"/>
              </a:defRPr>
            </a:pPr>
            <a:r>
              <a:rPr sz="1800" b="0">
                <a:solidFill>
                  <a:srgbClr val="56676B"/>
                </a:solidFill>
                <a:latin typeface="DejaVu Sans"/>
                <a:ea typeface="DejaVu Sans"/>
                <a:cs typeface="DejaVu Sans"/>
              </a:rPr>
              <a:t>Proposed 400 kW dispensers sharing a 2 MW site power limit. Final design follows fleet needs.</a:t>
            </a:r>
          </a:p>
        </p:txBody>
      </p:sp>
      <p:sp>
        <p:nvSpPr>
          <p:cNvPr id="8" name="">
            <a:extLst xmlns:a="http://schemas.openxmlformats.org/drawingml/2006/main">
              <a:ext uri="{FF2B5EF4-FFF2-40B4-BE49-F238E27FC236}">
                <a16:creationId xmlns:a16="http://schemas.microsoft.com/office/drawing/2014/main" id="{79AFA3FA-70FE-4014-B44D-93298F2E5122}"/>
              </a:ext>
            </a:extLst>
          </p:cNvPr>
          <p:cNvSpPr>
            <a:spLocks xmlns:a="http://schemas.openxmlformats.org/drawingml/2006/main" noGrp="1"/>
          </p:cNvSpPr>
          <p:nvPr/>
        </p:nvSpPr>
        <p:spPr>
          <a:xfrm xmlns:a="http://schemas.openxmlformats.org/drawingml/2006/main">
            <a:off x="571500" y="4181475"/>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42C33"/>
                </a:solidFill>
                <a:latin typeface="DejaVu Sans"/>
                <a:ea typeface="DejaVu Sans"/>
                <a:cs typeface="DejaVu Sans"/>
              </a:defRPr>
            </a:pPr>
            <a:r>
              <a:rPr sz="2025" b="1">
                <a:solidFill>
                  <a:srgbClr val="142C33"/>
                </a:solidFill>
                <a:latin typeface="DejaVu Sans"/>
                <a:ea typeface="DejaVu Sans"/>
                <a:cs typeface="DejaVu Sans"/>
              </a:rPr>
              <a:t>Payment and fleet access</a:t>
            </a:r>
          </a:p>
        </p:txBody>
      </p:sp>
      <p:sp>
        <p:nvSpPr>
          <p:cNvPr id="9" name="">
            <a:extLst xmlns:a="http://schemas.openxmlformats.org/drawingml/2006/main">
              <a:ext uri="{FF2B5EF4-FFF2-40B4-BE49-F238E27FC236}">
                <a16:creationId xmlns:a16="http://schemas.microsoft.com/office/drawing/2014/main" id="{E2B734F8-527C-4CA6-B9B4-B04D0DB3C854}"/>
              </a:ext>
            </a:extLst>
          </p:cNvPr>
          <p:cNvSpPr>
            <a:spLocks xmlns:a="http://schemas.openxmlformats.org/drawingml/2006/main" noGrp="1"/>
          </p:cNvSpPr>
          <p:nvPr/>
        </p:nvSpPr>
        <p:spPr>
          <a:xfrm xmlns:a="http://schemas.openxmlformats.org/drawingml/2006/main">
            <a:off x="571500" y="4638675"/>
            <a:ext cx="5191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6B"/>
                </a:solidFill>
                <a:latin typeface="DejaVu Sans"/>
                <a:ea typeface="DejaVu Sans"/>
                <a:cs typeface="DejaVu Sans"/>
              </a:defRPr>
            </a:pPr>
            <a:r>
              <a:rPr sz="1800" b="0">
                <a:solidFill>
                  <a:srgbClr val="56676B"/>
                </a:solidFill>
                <a:latin typeface="DejaVu Sans"/>
                <a:ea typeface="DejaVu Sans"/>
                <a:cs typeface="DejaVu Sans"/>
              </a:rPr>
              <a:t>White dispensers, lime S branding, live readout and card payment. Fleet accounts add reservations and invoicing.</a:t>
            </a:r>
          </a:p>
        </p:txBody>
      </p:sp>
      <p:sp>
        <p:nvSpPr>
          <p:cNvPr id="10" name="">
            <a:extLst xmlns:a="http://schemas.openxmlformats.org/drawingml/2006/main">
              <a:ext uri="{FF2B5EF4-FFF2-40B4-BE49-F238E27FC236}">
                <a16:creationId xmlns:a16="http://schemas.microsoft.com/office/drawing/2014/main" id="{C19742A3-FF66-4457-B761-9C440393DDB7}"/>
              </a:ext>
            </a:extLst>
          </p:cNvPr>
          <p:cNvSpPr>
            <a:spLocks xmlns:a="http://schemas.openxmlformats.org/drawingml/2006/main" noGrp="1"/>
          </p:cNvSpPr>
          <p:nvPr/>
        </p:nvSpPr>
        <p:spPr>
          <a:xfrm xmlns:a="http://schemas.openxmlformats.org/drawingml/2006/main">
            <a:off x="6210300" y="592455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25" b="0">
                <a:solidFill>
                  <a:srgbClr val="56676B"/>
                </a:solidFill>
                <a:latin typeface="DejaVu Sans"/>
                <a:ea typeface="DejaVu Sans"/>
                <a:cs typeface="DejaVu Sans"/>
              </a:defRPr>
            </a:pPr>
            <a:r>
              <a:rPr sz="1125" b="0">
                <a:solidFill>
                  <a:srgbClr val="56676B"/>
                </a:solidFill>
                <a:latin typeface="DejaVu Sans"/>
                <a:ea typeface="DejaVu Sans"/>
                <a:cs typeface="DejaVu Sans"/>
              </a:rPr>
              <a:t>Concept rendering. Hardware and site layout subject to engineering.</a:t>
            </a:r>
          </a:p>
        </p:txBody>
      </p:sp>
    </p:spTree>
    <p:extLst>
      <p:ext uri="{BB962C8B-B14F-4D97-AF65-F5344CB8AC3E}">
        <p14:creationId xmlns:p14="http://schemas.microsoft.com/office/powerpoint/2010/main" val="10033718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40B6D6-F498-4F52-B98B-0FC1BAD6EEFD}"/>
              </a:ext>
            </a:extLst>
          </p:cNvPr>
          <p:cNvSpPr>
            <a:spLocks xmlns:a="http://schemas.openxmlformats.org/drawingml/2006/main" noGrp="1"/>
          </p:cNvSpPr>
          <p:nvPr/>
        </p:nvSpPr>
        <p:spPr>
          <a:xfrm xmlns:a="http://schemas.openxmlformats.org/drawingml/2006/main">
            <a:off x="552450" y="466725"/>
            <a:ext cx="1108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42C33"/>
                </a:solidFill>
                <a:latin typeface="DejaVu Sans"/>
                <a:ea typeface="DejaVu Sans"/>
                <a:cs typeface="DejaVu Sans"/>
              </a:defRPr>
            </a:pPr>
            <a:r>
              <a:rPr sz="3300" b="1">
                <a:solidFill>
                  <a:srgbClr val="142C33"/>
                </a:solidFill>
                <a:latin typeface="DejaVu Sans"/>
                <a:ea typeface="DejaVu Sans"/>
                <a:cs typeface="DejaVu Sans"/>
              </a:rPr>
              <a:t>A fleet-backed pilot comes first</a:t>
            </a:r>
          </a:p>
        </p:txBody>
      </p:sp>
      <p:sp>
        <p:nvSpPr>
          <p:cNvPr id="2" name="">
            <a:extLst xmlns:a="http://schemas.openxmlformats.org/drawingml/2006/main">
              <a:ext uri="{FF2B5EF4-FFF2-40B4-BE49-F238E27FC236}">
                <a16:creationId xmlns:a16="http://schemas.microsoft.com/office/drawing/2014/main" id="{AFB6C450-3513-4DA0-A9DA-4E4D296020E4}"/>
              </a:ext>
            </a:extLst>
          </p:cNvPr>
          <p:cNvSpPr>
            <a:spLocks xmlns:a="http://schemas.openxmlformats.org/drawingml/2006/main" noGrp="1"/>
          </p:cNvSpPr>
          <p:nvPr/>
        </p:nvSpPr>
        <p:spPr>
          <a:xfrm xmlns:a="http://schemas.openxmlformats.org/drawingml/2006/main">
            <a:off x="571500" y="14859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6B"/>
                </a:solidFill>
                <a:latin typeface="DejaVu Sans"/>
                <a:ea typeface="DejaVu Sans"/>
                <a:cs typeface="DejaVu Sans"/>
              </a:defRPr>
            </a:pPr>
            <a:r>
              <a:rPr sz="1725" b="0">
                <a:solidFill>
                  <a:srgbClr val="56676B"/>
                </a:solidFill>
                <a:latin typeface="DejaVu Sans"/>
                <a:ea typeface="DejaVu Sans"/>
                <a:cs typeface="DejaVu Sans"/>
              </a:rPr>
              <a:t>Proposed rollout begins after development funding. Dates depend on utility delivery.</a:t>
            </a:r>
          </a:p>
        </p:txBody>
      </p:sp>
      <p:sp>
        <p:nvSpPr>
          <p:cNvPr id="3" name="">
            <a:extLst xmlns:a="http://schemas.openxmlformats.org/drawingml/2006/main">
              <a:ext uri="{FF2B5EF4-FFF2-40B4-BE49-F238E27FC236}">
                <a16:creationId xmlns:a16="http://schemas.microsoft.com/office/drawing/2014/main" id="{15C50C89-38F6-4533-8F73-3AA638766905}"/>
              </a:ext>
            </a:extLst>
          </p:cNvPr>
          <p:cNvSpPr>
            <a:spLocks xmlns:a="http://schemas.openxmlformats.org/drawingml/2006/main" noGrp="1"/>
          </p:cNvSpPr>
          <p:nvPr/>
        </p:nvSpPr>
        <p:spPr>
          <a:xfrm xmlns:a="http://schemas.openxmlformats.org/drawingml/2006/main">
            <a:off x="571500"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00" b="0">
                <a:solidFill>
                  <a:srgbClr val="56676B"/>
                </a:solidFill>
                <a:latin typeface="DejaVu Sans"/>
                <a:ea typeface="DejaVu Sans"/>
                <a:cs typeface="DejaVu Sans"/>
              </a:defRPr>
            </a:pPr>
            <a:r>
              <a:rPr sz="900" b="0">
                <a:solidFill>
                  <a:srgbClr val="56676B"/>
                </a:solidFill>
                <a:latin typeface="DejaVu Sans"/>
                <a:ea typeface="DejaVu Sans"/>
                <a:cs typeface="DejaVu Sans"/>
              </a:rPr>
              <a:t>SEMISOCKET  /  INVESTOR DISCUSSION DRAFT</a:t>
            </a:r>
          </a:p>
        </p:txBody>
      </p:sp>
      <p:sp>
        <p:nvSpPr>
          <p:cNvPr id="4" name="">
            <a:extLst xmlns:a="http://schemas.openxmlformats.org/drawingml/2006/main">
              <a:ext uri="{FF2B5EF4-FFF2-40B4-BE49-F238E27FC236}">
                <a16:creationId xmlns:a16="http://schemas.microsoft.com/office/drawing/2014/main" id="{3E60C61D-E8DF-457C-9309-3CA6AD8828A5}"/>
              </a:ext>
            </a:extLst>
          </p:cNvPr>
          <p:cNvSpPr>
            <a:spLocks xmlns:a="http://schemas.openxmlformats.org/drawingml/2006/main" noGrp="1"/>
          </p:cNvSpPr>
          <p:nvPr/>
        </p:nvSpPr>
        <p:spPr>
          <a:xfrm xmlns:a="http://schemas.openxmlformats.org/drawingml/2006/main">
            <a:off x="11144250"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142C33"/>
                </a:solidFill>
                <a:latin typeface="DejaVu Sans"/>
                <a:ea typeface="DejaVu Sans"/>
                <a:cs typeface="DejaVu Sans"/>
              </a:defRPr>
            </a:pPr>
            <a:r>
              <a:rPr sz="1350" b="1">
                <a:solidFill>
                  <a:srgbClr val="142C33"/>
                </a:solidFill>
                <a:latin typeface="DejaVu Sans"/>
                <a:ea typeface="DejaVu Sans"/>
                <a:cs typeface="DejaVu Sans"/>
              </a:rPr>
              <a:t>04</a:t>
            </a:r>
          </a:p>
        </p:txBody>
      </p:sp>
      <p:graphicFrame>
        <p:nvGraphicFramePr>
          <p:cNvPr id="12" name=""/>
          <p:cNvGraphicFramePr/>
          <p:nvPr/>
        </p:nvGraphicFramePr>
        <p:xfrm>
          <a:off xmlns:a="http://schemas.openxmlformats.org/drawingml/2006/main" x="571500" y="2228850"/>
          <a:ext xmlns:a="http://schemas.openxmlformats.org/drawingml/2006/main" cx="11049000" cy="2781300"/>
        </p:xfrm>
        <a:graphic xmlns:a="http://schemas.openxmlformats.org/drawingml/2006/main">
          <a:graphicData uri="http://schemas.openxmlformats.org/drawingml/2006/table">
            <a:tbl>
              <a:tblPr/>
              <a:tblGrid>
                <a:gridCol w="2076450"/>
                <a:gridCol w="4686300"/>
                <a:gridCol w="4286250"/>
              </a:tblGrid>
              <a:tr h="556260">
                <a:tc>
                  <a:txBody>
                    <a:bodyPr lIns="133350" tIns="85725" rIns="95250" bIns="85725"/>
                    <a:lstStyle/>
                    <a:p>
                      <a:pPr algn="l"/>
                      <a:r>
                        <a:rPr sz="1650" b="1">
                          <a:solidFill>
                            <a:srgbClr val="FFFFFF"/>
                          </a:solidFill>
                          <a:latin typeface="DejaVu Sans"/>
                          <a:ea typeface="DejaVu Sans"/>
                          <a:cs typeface="DejaVu Sans"/>
                        </a:rPr>
                        <a:t>Window</a:t>
                      </a:r>
                    </a:p>
                  </a:txBody>
                  <a:tcPr marL="91440" marR="91440" marT="45720" marB="45720" anchor="ctr">
                    <a:solidFill>
                      <a:srgbClr val="081B22"/>
                    </a:solidFill>
                  </a:tcPr>
                </a:tc>
                <a:tc>
                  <a:txBody>
                    <a:bodyPr lIns="133350" tIns="85725" rIns="95250" bIns="85725"/>
                    <a:lstStyle/>
                    <a:p>
                      <a:pPr algn="l"/>
                      <a:r>
                        <a:rPr sz="1650" b="1">
                          <a:solidFill>
                            <a:srgbClr val="FFFFFF"/>
                          </a:solidFill>
                          <a:latin typeface="DejaVu Sans"/>
                          <a:ea typeface="DejaVu Sans"/>
                          <a:cs typeface="DejaVu Sans"/>
                        </a:rPr>
                        <a:t>Workstream</a:t>
                      </a:r>
                    </a:p>
                  </a:txBody>
                  <a:tcPr marL="91440" marR="91440" marT="45720" marB="45720" anchor="ctr">
                    <a:solidFill>
                      <a:srgbClr val="081B22"/>
                    </a:solidFill>
                  </a:tcPr>
                </a:tc>
                <a:tc>
                  <a:txBody>
                    <a:bodyPr lIns="133350" tIns="85725" rIns="95250" bIns="85725"/>
                    <a:lstStyle/>
                    <a:p>
                      <a:pPr algn="l"/>
                      <a:r>
                        <a:rPr sz="1650" b="1">
                          <a:solidFill>
                            <a:srgbClr val="FFFFFF"/>
                          </a:solidFill>
                          <a:latin typeface="DejaVu Sans"/>
                          <a:ea typeface="DejaVu Sans"/>
                          <a:cs typeface="DejaVu Sans"/>
                        </a:rPr>
                        <a:t>Decision gate</a:t>
                      </a:r>
                    </a:p>
                  </a:txBody>
                  <a:tcPr marL="91440" marR="91440" marT="45720" marB="45720" anchor="ctr">
                    <a:solidFill>
                      <a:srgbClr val="081B22"/>
                    </a:solidFill>
                  </a:tcPr>
                </a:tc>
              </a:tr>
              <a:tr h="556260">
                <a:tc>
                  <a:txBody>
                    <a:bodyPr lIns="133350" tIns="85725" rIns="95250" bIns="85725"/>
                    <a:lstStyle/>
                    <a:p>
                      <a:pPr algn="l"/>
                      <a:r>
                        <a:rPr sz="1650" b="1">
                          <a:solidFill>
                            <a:srgbClr val="142C33"/>
                          </a:solidFill>
                          <a:latin typeface="DejaVu Sans"/>
                          <a:ea typeface="DejaVu Sans"/>
                          <a:cs typeface="DejaVu Sans"/>
                        </a:rPr>
                        <a:t>Months 0–3</a:t>
                      </a:r>
                    </a:p>
                  </a:txBody>
                  <a:tcPr marL="91440" marR="91440" marT="45720" marB="45720" anchor="ctr">
                    <a:solidFill>
                      <a:srgbClr val="F1F4EF"/>
                    </a:solidFill>
                  </a:tcPr>
                </a:tc>
                <a:tc>
                  <a:txBody>
                    <a:bodyPr lIns="133350" tIns="85725" rIns="95250" bIns="85725"/>
                    <a:lstStyle/>
                    <a:p>
                      <a:pPr algn="l"/>
                      <a:r>
                        <a:rPr sz="1650" b="0">
                          <a:solidFill>
                            <a:srgbClr val="142C33"/>
                          </a:solidFill>
                          <a:latin typeface="DejaVu Sans"/>
                          <a:ea typeface="DejaVu Sans"/>
                          <a:cs typeface="DejaVu Sans"/>
                        </a:rPr>
                        <a:t>20 fleet interviews and route analysis</a:t>
                      </a:r>
                    </a:p>
                  </a:txBody>
                  <a:tcPr marL="91440" marR="91440" marT="45720" marB="45720" anchor="ctr">
                    <a:solidFill>
                      <a:srgbClr val="F1F4EF"/>
                    </a:solidFill>
                  </a:tcPr>
                </a:tc>
                <a:tc>
                  <a:txBody>
                    <a:bodyPr lIns="133350" tIns="85725" rIns="95250" bIns="85725"/>
                    <a:lstStyle/>
                    <a:p>
                      <a:pPr algn="l"/>
                      <a:r>
                        <a:rPr sz="1650" b="0">
                          <a:solidFill>
                            <a:srgbClr val="142C33"/>
                          </a:solidFill>
                          <a:latin typeface="DejaVu Sans"/>
                          <a:ea typeface="DejaVu Sans"/>
                          <a:cs typeface="DejaVu Sans"/>
                        </a:rPr>
                        <a:t>Two qualified anchor prospects</a:t>
                      </a:r>
                    </a:p>
                  </a:txBody>
                  <a:tcPr marL="91440" marR="91440" marT="45720" marB="45720" anchor="ctr">
                    <a:solidFill>
                      <a:srgbClr val="F1F4EF"/>
                    </a:solidFill>
                  </a:tcPr>
                </a:tc>
              </a:tr>
              <a:tr h="556260">
                <a:tc>
                  <a:txBody>
                    <a:bodyPr lIns="133350" tIns="85725" rIns="95250" bIns="85725"/>
                    <a:lstStyle/>
                    <a:p>
                      <a:pPr algn="l"/>
                      <a:r>
                        <a:rPr sz="1650" b="1">
                          <a:solidFill>
                            <a:srgbClr val="142C33"/>
                          </a:solidFill>
                          <a:latin typeface="DejaVu Sans"/>
                          <a:ea typeface="DejaVu Sans"/>
                          <a:cs typeface="DejaVu Sans"/>
                        </a:rPr>
                        <a:t>Months 3–6</a:t>
                      </a:r>
                    </a:p>
                  </a:txBody>
                  <a:tcPr marL="91440" marR="91440" marT="45720" marB="45720" anchor="ctr">
                    <a:solidFill>
                      <a:srgbClr val="FFFFFF"/>
                    </a:solidFill>
                  </a:tcPr>
                </a:tc>
                <a:tc>
                  <a:txBody>
                    <a:bodyPr lIns="133350" tIns="85725" rIns="95250" bIns="85725"/>
                    <a:lstStyle/>
                    <a:p>
                      <a:pPr algn="l"/>
                      <a:r>
                        <a:rPr sz="1650" b="0">
                          <a:solidFill>
                            <a:srgbClr val="142C33"/>
                          </a:solidFill>
                          <a:latin typeface="DejaVu Sans"/>
                          <a:ea typeface="DejaVu Sans"/>
                          <a:cs typeface="DejaVu Sans"/>
                        </a:rPr>
                        <a:t>Site options and utility studies</a:t>
                      </a:r>
                    </a:p>
                  </a:txBody>
                  <a:tcPr marL="91440" marR="91440" marT="45720" marB="45720" anchor="ctr">
                    <a:solidFill>
                      <a:srgbClr val="FFFFFF"/>
                    </a:solidFill>
                  </a:tcPr>
                </a:tc>
                <a:tc>
                  <a:txBody>
                    <a:bodyPr lIns="133350" tIns="85725" rIns="95250" bIns="85725"/>
                    <a:lstStyle/>
                    <a:p>
                      <a:pPr algn="l"/>
                      <a:r>
                        <a:rPr sz="1650" b="0">
                          <a:solidFill>
                            <a:srgbClr val="142C33"/>
                          </a:solidFill>
                          <a:latin typeface="DejaVu Sans"/>
                          <a:ea typeface="DejaVu Sans"/>
                          <a:cs typeface="DejaVu Sans"/>
                        </a:rPr>
                        <a:t>Costed power plan and site control</a:t>
                      </a:r>
                    </a:p>
                  </a:txBody>
                  <a:tcPr marL="91440" marR="91440" marT="45720" marB="45720" anchor="ctr">
                    <a:solidFill>
                      <a:srgbClr val="FFFFFF"/>
                    </a:solidFill>
                  </a:tcPr>
                </a:tc>
              </a:tr>
              <a:tr h="556260">
                <a:tc>
                  <a:txBody>
                    <a:bodyPr lIns="133350" tIns="85725" rIns="95250" bIns="85725"/>
                    <a:lstStyle/>
                    <a:p>
                      <a:pPr algn="l"/>
                      <a:r>
                        <a:rPr sz="1650" b="1">
                          <a:solidFill>
                            <a:srgbClr val="142C33"/>
                          </a:solidFill>
                          <a:latin typeface="DejaVu Sans"/>
                          <a:ea typeface="DejaVu Sans"/>
                          <a:cs typeface="DejaVu Sans"/>
                        </a:rPr>
                        <a:t>Months 6–12</a:t>
                      </a:r>
                    </a:p>
                  </a:txBody>
                  <a:tcPr marL="91440" marR="91440" marT="45720" marB="45720" anchor="ctr">
                    <a:solidFill>
                      <a:srgbClr val="F1F4EF"/>
                    </a:solidFill>
                  </a:tcPr>
                </a:tc>
                <a:tc>
                  <a:txBody>
                    <a:bodyPr lIns="133350" tIns="85725" rIns="95250" bIns="85725"/>
                    <a:lstStyle/>
                    <a:p>
                      <a:pPr algn="l"/>
                      <a:r>
                        <a:rPr sz="1650" b="0">
                          <a:solidFill>
                            <a:srgbClr val="142C33"/>
                          </a:solidFill>
                          <a:latin typeface="DejaVu Sans"/>
                          <a:ea typeface="DejaVu Sans"/>
                          <a:cs typeface="DejaVu Sans"/>
                        </a:rPr>
                        <a:t>Contracts, permits and financing</a:t>
                      </a:r>
                    </a:p>
                  </a:txBody>
                  <a:tcPr marL="91440" marR="91440" marT="45720" marB="45720" anchor="ctr">
                    <a:solidFill>
                      <a:srgbClr val="F1F4EF"/>
                    </a:solidFill>
                  </a:tcPr>
                </a:tc>
                <a:tc>
                  <a:txBody>
                    <a:bodyPr lIns="133350" tIns="85725" rIns="95250" bIns="85725"/>
                    <a:lstStyle/>
                    <a:p>
                      <a:pPr algn="l"/>
                      <a:r>
                        <a:rPr sz="1650" b="0">
                          <a:solidFill>
                            <a:srgbClr val="142C33"/>
                          </a:solidFill>
                          <a:latin typeface="DejaVu Sans"/>
                          <a:ea typeface="DejaVu Sans"/>
                          <a:cs typeface="DejaVu Sans"/>
                        </a:rPr>
                        <a:t>Target ≥2.4 GWh/year contracted</a:t>
                      </a:r>
                    </a:p>
                  </a:txBody>
                  <a:tcPr marL="91440" marR="91440" marT="45720" marB="45720" anchor="ctr">
                    <a:solidFill>
                      <a:srgbClr val="F1F4EF"/>
                    </a:solidFill>
                  </a:tcPr>
                </a:tc>
              </a:tr>
              <a:tr h="556260">
                <a:tc>
                  <a:txBody>
                    <a:bodyPr lIns="133350" tIns="85725" rIns="95250" bIns="85725"/>
                    <a:lstStyle/>
                    <a:p>
                      <a:pPr algn="l"/>
                      <a:r>
                        <a:rPr sz="1650" b="1">
                          <a:solidFill>
                            <a:srgbClr val="142C33"/>
                          </a:solidFill>
                          <a:latin typeface="DejaVu Sans"/>
                          <a:ea typeface="DejaVu Sans"/>
                          <a:cs typeface="DejaVu Sans"/>
                        </a:rPr>
                        <a:t>Months 12–24+</a:t>
                      </a:r>
                    </a:p>
                  </a:txBody>
                  <a:tcPr marL="91440" marR="91440" marT="45720" marB="45720" anchor="ctr">
                    <a:solidFill>
                      <a:srgbClr val="FFFFFF"/>
                    </a:solidFill>
                  </a:tcPr>
                </a:tc>
                <a:tc>
                  <a:txBody>
                    <a:bodyPr lIns="133350" tIns="85725" rIns="95250" bIns="85725"/>
                    <a:lstStyle/>
                    <a:p>
                      <a:pPr algn="l"/>
                      <a:r>
                        <a:rPr sz="1650" b="0">
                          <a:solidFill>
                            <a:srgbClr val="142C33"/>
                          </a:solidFill>
                          <a:latin typeface="DejaVu Sans"/>
                          <a:ea typeface="DejaVu Sans"/>
                          <a:cs typeface="DejaVu Sans"/>
                        </a:rPr>
                        <a:t>Build, commission and validate</a:t>
                      </a:r>
                    </a:p>
                  </a:txBody>
                  <a:tcPr marL="91440" marR="91440" marT="45720" marB="45720" anchor="ctr">
                    <a:solidFill>
                      <a:srgbClr val="FFFFFF"/>
                    </a:solidFill>
                  </a:tcPr>
                </a:tc>
                <a:tc>
                  <a:txBody>
                    <a:bodyPr lIns="133350" tIns="85725" rIns="95250" bIns="85725"/>
                    <a:lstStyle/>
                    <a:p>
                      <a:pPr algn="l"/>
                      <a:r>
                        <a:rPr sz="1650" b="0">
                          <a:solidFill>
                            <a:srgbClr val="142C33"/>
                          </a:solidFill>
                          <a:latin typeface="DejaVu Sans"/>
                          <a:ea typeface="DejaVu Sans"/>
                          <a:cs typeface="DejaVu Sans"/>
                        </a:rPr>
                        <a:t>Expansion after six months of data</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5E9C0ED-97BB-4846-87AA-6270BEEF2BD8}"/>
              </a:ext>
            </a:extLst>
          </p:cNvPr>
          <p:cNvSpPr>
            <a:spLocks xmlns:a="http://schemas.openxmlformats.org/drawingml/2006/main" noGrp="1"/>
          </p:cNvSpPr>
          <p:nvPr/>
        </p:nvSpPr>
        <p:spPr>
          <a:xfrm xmlns:a="http://schemas.openxmlformats.org/drawingml/2006/main">
            <a:off x="571500" y="52578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42C33"/>
                </a:solidFill>
                <a:latin typeface="DejaVu Sans"/>
                <a:ea typeface="DejaVu Sans"/>
                <a:cs typeface="DejaVu Sans"/>
              </a:defRPr>
            </a:pPr>
            <a:r>
              <a:rPr sz="1950" b="1">
                <a:solidFill>
                  <a:srgbClr val="142C33"/>
                </a:solidFill>
                <a:latin typeface="DejaVu Sans"/>
                <a:ea typeface="DejaVu Sans"/>
                <a:cs typeface="DejaVu Sans"/>
              </a:rPr>
              <a:t>Initial market screening</a:t>
            </a:r>
          </a:p>
        </p:txBody>
      </p:sp>
      <p:sp>
        <p:nvSpPr>
          <p:cNvPr id="7" name="">
            <a:extLst xmlns:a="http://schemas.openxmlformats.org/drawingml/2006/main">
              <a:ext uri="{FF2B5EF4-FFF2-40B4-BE49-F238E27FC236}">
                <a16:creationId xmlns:a16="http://schemas.microsoft.com/office/drawing/2014/main" id="{25CBFE0C-0261-4FD7-A51F-78457A350A54}"/>
              </a:ext>
            </a:extLst>
          </p:cNvPr>
          <p:cNvSpPr>
            <a:spLocks xmlns:a="http://schemas.openxmlformats.org/drawingml/2006/main" noGrp="1"/>
          </p:cNvSpPr>
          <p:nvPr/>
        </p:nvSpPr>
        <p:spPr>
          <a:xfrm xmlns:a="http://schemas.openxmlformats.org/drawingml/2006/main">
            <a:off x="571500" y="56864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6B"/>
                </a:solidFill>
                <a:latin typeface="DejaVu Sans"/>
                <a:ea typeface="DejaVu Sans"/>
                <a:cs typeface="DejaVu Sans"/>
              </a:defRPr>
            </a:pPr>
            <a:r>
              <a:rPr sz="1800" b="0">
                <a:solidFill>
                  <a:srgbClr val="56676B"/>
                </a:solidFill>
                <a:latin typeface="DejaVu Sans"/>
                <a:ea typeface="DejaVu Sans"/>
                <a:cs typeface="DejaVu Sans"/>
              </a:rPr>
              <a:t>Inland Empire, Phoenix and Dallas–Fort Worth. Select one pilot using fleet demand, power cost, truck access and connection timing.</a:t>
            </a:r>
          </a:p>
        </p:txBody>
      </p:sp>
    </p:spTree>
    <p:extLst>
      <p:ext uri="{BB962C8B-B14F-4D97-AF65-F5344CB8AC3E}">
        <p14:creationId xmlns:p14="http://schemas.microsoft.com/office/powerpoint/2010/main" val="4889659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C1140F-E341-4264-9F8A-5F2DF54D0834}"/>
              </a:ext>
            </a:extLst>
          </p:cNvPr>
          <p:cNvSpPr>
            <a:spLocks xmlns:a="http://schemas.openxmlformats.org/drawingml/2006/main" noGrp="1"/>
          </p:cNvSpPr>
          <p:nvPr/>
        </p:nvSpPr>
        <p:spPr>
          <a:xfrm xmlns:a="http://schemas.openxmlformats.org/drawingml/2006/main">
            <a:off x="552450" y="466725"/>
            <a:ext cx="1108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42C33"/>
                </a:solidFill>
                <a:latin typeface="DejaVu Sans"/>
                <a:ea typeface="DejaVu Sans"/>
                <a:cs typeface="DejaVu Sans"/>
              </a:defRPr>
            </a:pPr>
            <a:r>
              <a:rPr sz="3300" b="1">
                <a:solidFill>
                  <a:srgbClr val="142C33"/>
                </a:solidFill>
                <a:latin typeface="DejaVu Sans"/>
                <a:ea typeface="DejaVu Sans"/>
                <a:cs typeface="DejaVu Sans"/>
              </a:rPr>
              <a:t>Competition and the opening for SemiSocket</a:t>
            </a:r>
          </a:p>
        </p:txBody>
      </p:sp>
      <p:sp>
        <p:nvSpPr>
          <p:cNvPr id="2" name="">
            <a:extLst xmlns:a="http://schemas.openxmlformats.org/drawingml/2006/main">
              <a:ext uri="{FF2B5EF4-FFF2-40B4-BE49-F238E27FC236}">
                <a16:creationId xmlns:a16="http://schemas.microsoft.com/office/drawing/2014/main" id="{27883AE4-ADB4-4B13-BE28-4D5580AE8A44}"/>
              </a:ext>
            </a:extLst>
          </p:cNvPr>
          <p:cNvSpPr>
            <a:spLocks xmlns:a="http://schemas.openxmlformats.org/drawingml/2006/main" noGrp="1"/>
          </p:cNvSpPr>
          <p:nvPr/>
        </p:nvSpPr>
        <p:spPr>
          <a:xfrm xmlns:a="http://schemas.openxmlformats.org/drawingml/2006/main">
            <a:off x="571500" y="14859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6B"/>
                </a:solidFill>
                <a:latin typeface="DejaVu Sans"/>
                <a:ea typeface="DejaVu Sans"/>
                <a:cs typeface="DejaVu Sans"/>
              </a:defRPr>
            </a:pPr>
            <a:r>
              <a:rPr sz="1725" b="0">
                <a:solidFill>
                  <a:srgbClr val="56676B"/>
                </a:solidFill>
                <a:latin typeface="DejaVu Sans"/>
                <a:ea typeface="DejaVu Sans"/>
                <a:cs typeface="DejaVu Sans"/>
              </a:rPr>
              <a:t>Existing operators validate the category and raise the bar for execution.</a:t>
            </a:r>
          </a:p>
        </p:txBody>
      </p:sp>
      <p:sp>
        <p:nvSpPr>
          <p:cNvPr id="3" name="">
            <a:extLst xmlns:a="http://schemas.openxmlformats.org/drawingml/2006/main">
              <a:ext uri="{FF2B5EF4-FFF2-40B4-BE49-F238E27FC236}">
                <a16:creationId xmlns:a16="http://schemas.microsoft.com/office/drawing/2014/main" id="{9C1FD38A-6492-450A-8649-07C4F8F6D315}"/>
              </a:ext>
            </a:extLst>
          </p:cNvPr>
          <p:cNvSpPr>
            <a:spLocks xmlns:a="http://schemas.openxmlformats.org/drawingml/2006/main" noGrp="1"/>
          </p:cNvSpPr>
          <p:nvPr/>
        </p:nvSpPr>
        <p:spPr>
          <a:xfrm xmlns:a="http://schemas.openxmlformats.org/drawingml/2006/main">
            <a:off x="571500"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00" b="0">
                <a:solidFill>
                  <a:srgbClr val="56676B"/>
                </a:solidFill>
                <a:latin typeface="DejaVu Sans"/>
                <a:ea typeface="DejaVu Sans"/>
                <a:cs typeface="DejaVu Sans"/>
              </a:defRPr>
            </a:pPr>
            <a:r>
              <a:rPr sz="900" b="0">
                <a:solidFill>
                  <a:srgbClr val="56676B"/>
                </a:solidFill>
                <a:latin typeface="DejaVu Sans"/>
                <a:ea typeface="DejaVu Sans"/>
                <a:cs typeface="DejaVu Sans"/>
              </a:rPr>
              <a:t>SEMISOCKET  /  INVESTOR DISCUSSION DRAFT</a:t>
            </a:r>
          </a:p>
        </p:txBody>
      </p:sp>
      <p:sp>
        <p:nvSpPr>
          <p:cNvPr id="4" name="">
            <a:extLst xmlns:a="http://schemas.openxmlformats.org/drawingml/2006/main">
              <a:ext uri="{FF2B5EF4-FFF2-40B4-BE49-F238E27FC236}">
                <a16:creationId xmlns:a16="http://schemas.microsoft.com/office/drawing/2014/main" id="{97BD0148-1D96-4EBE-9DF1-33C8F4CA529F}"/>
              </a:ext>
            </a:extLst>
          </p:cNvPr>
          <p:cNvSpPr>
            <a:spLocks xmlns:a="http://schemas.openxmlformats.org/drawingml/2006/main" noGrp="1"/>
          </p:cNvSpPr>
          <p:nvPr/>
        </p:nvSpPr>
        <p:spPr>
          <a:xfrm xmlns:a="http://schemas.openxmlformats.org/drawingml/2006/main">
            <a:off x="11144250"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142C33"/>
                </a:solidFill>
                <a:latin typeface="DejaVu Sans"/>
                <a:ea typeface="DejaVu Sans"/>
                <a:cs typeface="DejaVu Sans"/>
              </a:defRPr>
            </a:pPr>
            <a:r>
              <a:rPr sz="1350" b="1">
                <a:solidFill>
                  <a:srgbClr val="142C33"/>
                </a:solidFill>
                <a:latin typeface="DejaVu Sans"/>
                <a:ea typeface="DejaVu Sans"/>
                <a:cs typeface="DejaVu Sans"/>
              </a:rPr>
              <a:t>05</a:t>
            </a:r>
          </a:p>
        </p:txBody>
      </p:sp>
      <p:graphicFrame>
        <p:nvGraphicFramePr>
          <p:cNvPr id="13" name=""/>
          <p:cNvGraphicFramePr/>
          <p:nvPr/>
        </p:nvGraphicFramePr>
        <p:xfrm>
          <a:off xmlns:a="http://schemas.openxmlformats.org/drawingml/2006/main" x="571500" y="2209800"/>
          <a:ext xmlns:a="http://schemas.openxmlformats.org/drawingml/2006/main" cx="11049000" cy="3000375"/>
        </p:xfrm>
        <a:graphic xmlns:a="http://schemas.openxmlformats.org/drawingml/2006/main">
          <a:graphicData uri="http://schemas.openxmlformats.org/drawingml/2006/table">
            <a:tbl>
              <a:tblPr/>
              <a:tblGrid>
                <a:gridCol w="2762250"/>
                <a:gridCol w="8286750"/>
              </a:tblGrid>
              <a:tr h="600075">
                <a:tc>
                  <a:txBody>
                    <a:bodyPr lIns="133350" tIns="85725" rIns="95250" bIns="85725"/>
                    <a:lstStyle/>
                    <a:p>
                      <a:pPr algn="l"/>
                      <a:r>
                        <a:rPr sz="1725" b="1">
                          <a:solidFill>
                            <a:srgbClr val="FFFFFF"/>
                          </a:solidFill>
                          <a:latin typeface="DejaVu Sans"/>
                          <a:ea typeface="DejaVu Sans"/>
                          <a:cs typeface="DejaVu Sans"/>
                        </a:rPr>
                        <a:t>Alternative</a:t>
                      </a:r>
                    </a:p>
                  </a:txBody>
                  <a:tcPr marL="91440" marR="91440" marT="45720" marB="45720" anchor="ctr">
                    <a:solidFill>
                      <a:srgbClr val="081B22"/>
                    </a:solidFill>
                  </a:tcPr>
                </a:tc>
                <a:tc>
                  <a:txBody>
                    <a:bodyPr lIns="133350" tIns="85725" rIns="95250" bIns="85725"/>
                    <a:lstStyle/>
                    <a:p>
                      <a:pPr algn="l"/>
                      <a:r>
                        <a:rPr sz="1725" b="1">
                          <a:solidFill>
                            <a:srgbClr val="FFFFFF"/>
                          </a:solidFill>
                          <a:latin typeface="DejaVu Sans"/>
                          <a:ea typeface="DejaVu Sans"/>
                          <a:cs typeface="DejaVu Sans"/>
                        </a:rPr>
                        <a:t>Published offer / strategic tradeoff</a:t>
                      </a:r>
                    </a:p>
                  </a:txBody>
                  <a:tcPr marL="91440" marR="91440" marT="45720" marB="45720" anchor="ctr">
                    <a:solidFill>
                      <a:srgbClr val="081B22"/>
                    </a:solidFill>
                  </a:tcPr>
                </a:tc>
              </a:tr>
              <a:tr h="600075">
                <a:tc>
                  <a:txBody>
                    <a:bodyPr lIns="133350" tIns="85725" rIns="95250" bIns="85725"/>
                    <a:lstStyle/>
                    <a:p>
                      <a:pPr algn="l"/>
                      <a:r>
                        <a:rPr sz="1725" b="1">
                          <a:solidFill>
                            <a:srgbClr val="142C33"/>
                          </a:solidFill>
                          <a:latin typeface="DejaVu Sans"/>
                          <a:ea typeface="DejaVu Sans"/>
                          <a:cs typeface="DejaVu Sans"/>
                        </a:rPr>
                        <a:t>Terawatt</a:t>
                      </a:r>
                    </a:p>
                  </a:txBody>
                  <a:tcPr marL="91440" marR="91440" marT="45720" marB="45720" anchor="ctr">
                    <a:solidFill>
                      <a:srgbClr val="F1F4EF"/>
                    </a:solidFill>
                  </a:tcPr>
                </a:tc>
                <a:tc>
                  <a:txBody>
                    <a:bodyPr lIns="133350" tIns="85725" rIns="95250" bIns="85725"/>
                    <a:lstStyle/>
                    <a:p>
                      <a:pPr algn="l"/>
                      <a:r>
                        <a:rPr sz="1725" b="0">
                          <a:solidFill>
                            <a:srgbClr val="142C33"/>
                          </a:solidFill>
                          <a:latin typeface="DejaVu Sans"/>
                          <a:ea typeface="DejaVu Sans"/>
                          <a:cs typeface="DejaVu Sans"/>
                        </a:rPr>
                        <a:t>Fleet charging hubs, pull-through bays and monthly billing</a:t>
                      </a:r>
                    </a:p>
                  </a:txBody>
                  <a:tcPr marL="91440" marR="91440" marT="45720" marB="45720" anchor="ctr">
                    <a:solidFill>
                      <a:srgbClr val="F1F4EF"/>
                    </a:solidFill>
                  </a:tcPr>
                </a:tc>
              </a:tr>
              <a:tr h="600075">
                <a:tc>
                  <a:txBody>
                    <a:bodyPr lIns="133350" tIns="85725" rIns="95250" bIns="85725"/>
                    <a:lstStyle/>
                    <a:p>
                      <a:pPr algn="l"/>
                      <a:r>
                        <a:rPr sz="1725" b="1">
                          <a:solidFill>
                            <a:srgbClr val="142C33"/>
                          </a:solidFill>
                          <a:latin typeface="DejaVu Sans"/>
                          <a:ea typeface="DejaVu Sans"/>
                          <a:cs typeface="DejaVu Sans"/>
                        </a:rPr>
                        <a:t>Greenlane</a:t>
                      </a:r>
                    </a:p>
                  </a:txBody>
                  <a:tcPr marL="91440" marR="91440" marT="45720" marB="45720" anchor="ctr">
                    <a:solidFill>
                      <a:srgbClr val="FFFFFF"/>
                    </a:solidFill>
                  </a:tcPr>
                </a:tc>
                <a:tc>
                  <a:txBody>
                    <a:bodyPr lIns="133350" tIns="85725" rIns="95250" bIns="85725"/>
                    <a:lstStyle/>
                    <a:p>
                      <a:pPr algn="l"/>
                      <a:r>
                        <a:rPr sz="1725" b="0">
                          <a:solidFill>
                            <a:srgbClr val="142C33"/>
                          </a:solidFill>
                          <a:latin typeface="DejaVu Sans"/>
                          <a:ea typeface="DejaVu Sans"/>
                          <a:cs typeface="DejaVu Sans"/>
                        </a:rPr>
                        <a:t>Public truck charging, driver amenities and fleet services</a:t>
                      </a:r>
                    </a:p>
                  </a:txBody>
                  <a:tcPr marL="91440" marR="91440" marT="45720" marB="45720" anchor="ctr">
                    <a:solidFill>
                      <a:srgbClr val="FFFFFF"/>
                    </a:solidFill>
                  </a:tcPr>
                </a:tc>
              </a:tr>
              <a:tr h="600075">
                <a:tc>
                  <a:txBody>
                    <a:bodyPr lIns="133350" tIns="85725" rIns="95250" bIns="85725"/>
                    <a:lstStyle/>
                    <a:p>
                      <a:pPr algn="l"/>
                      <a:r>
                        <a:rPr sz="1725" b="1">
                          <a:solidFill>
                            <a:srgbClr val="142C33"/>
                          </a:solidFill>
                          <a:latin typeface="DejaVu Sans"/>
                          <a:ea typeface="DejaVu Sans"/>
                          <a:cs typeface="DejaVu Sans"/>
                        </a:rPr>
                        <a:t>Fleet-owned depots</a:t>
                      </a:r>
                    </a:p>
                  </a:txBody>
                  <a:tcPr marL="91440" marR="91440" marT="45720" marB="45720" anchor="ctr">
                    <a:solidFill>
                      <a:srgbClr val="F1F4EF"/>
                    </a:solidFill>
                  </a:tcPr>
                </a:tc>
                <a:tc>
                  <a:txBody>
                    <a:bodyPr lIns="133350" tIns="85725" rIns="95250" bIns="85725"/>
                    <a:lstStyle/>
                    <a:p>
                      <a:pPr algn="l"/>
                      <a:r>
                        <a:rPr sz="1725" b="0">
                          <a:solidFill>
                            <a:srgbClr val="142C33"/>
                          </a:solidFill>
                          <a:latin typeface="DejaVu Sans"/>
                          <a:ea typeface="DejaVu Sans"/>
                          <a:cs typeface="DejaVu Sans"/>
                        </a:rPr>
                        <a:t>Operational control, with capital and power-delivery burden</a:t>
                      </a:r>
                    </a:p>
                  </a:txBody>
                  <a:tcPr marL="91440" marR="91440" marT="45720" marB="45720" anchor="ctr">
                    <a:solidFill>
                      <a:srgbClr val="F1F4EF"/>
                    </a:solidFill>
                  </a:tcPr>
                </a:tc>
              </a:tr>
              <a:tr h="600075">
                <a:tc>
                  <a:txBody>
                    <a:bodyPr lIns="133350" tIns="85725" rIns="95250" bIns="85725"/>
                    <a:lstStyle/>
                    <a:p>
                      <a:pPr algn="l"/>
                      <a:r>
                        <a:rPr sz="1725" b="1">
                          <a:solidFill>
                            <a:srgbClr val="142C33"/>
                          </a:solidFill>
                          <a:latin typeface="DejaVu Sans"/>
                          <a:ea typeface="DejaVu Sans"/>
                          <a:cs typeface="DejaVu Sans"/>
                        </a:rPr>
                        <a:t>SemiSocket proposal</a:t>
                      </a:r>
                    </a:p>
                  </a:txBody>
                  <a:tcPr marL="91440" marR="91440" marT="45720" marB="45720" anchor="ctr">
                    <a:solidFill>
                      <a:srgbClr val="FFFFFF"/>
                    </a:solidFill>
                  </a:tcPr>
                </a:tc>
                <a:tc>
                  <a:txBody>
                    <a:bodyPr lIns="133350" tIns="85725" rIns="95250" bIns="85725"/>
                    <a:lstStyle/>
                    <a:p>
                      <a:pPr algn="l"/>
                      <a:r>
                        <a:rPr sz="1725" b="0">
                          <a:solidFill>
                            <a:srgbClr val="142C33"/>
                          </a:solidFill>
                          <a:latin typeface="DejaVu Sans"/>
                          <a:ea typeface="DejaVu Sans"/>
                          <a:cs typeface="DejaVu Sans"/>
                        </a:rPr>
                        <a:t>Smaller shared hubs at sites supported by anchor fleet demand</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87F5FCD-11C2-4F64-8785-8EDA92072DA0}"/>
              </a:ext>
            </a:extLst>
          </p:cNvPr>
          <p:cNvSpPr>
            <a:spLocks xmlns:a="http://schemas.openxmlformats.org/drawingml/2006/main" noGrp="1"/>
          </p:cNvSpPr>
          <p:nvPr/>
        </p:nvSpPr>
        <p:spPr>
          <a:xfrm xmlns:a="http://schemas.openxmlformats.org/drawingml/2006/main">
            <a:off x="571500" y="54768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42C33"/>
                </a:solidFill>
                <a:latin typeface="DejaVu Sans"/>
                <a:ea typeface="DejaVu Sans"/>
                <a:cs typeface="DejaVu Sans"/>
              </a:defRPr>
            </a:pPr>
            <a:r>
              <a:rPr sz="2025" b="1">
                <a:solidFill>
                  <a:srgbClr val="142C33"/>
                </a:solidFill>
                <a:latin typeface="DejaVu Sans"/>
                <a:ea typeface="DejaVu Sans"/>
                <a:cs typeface="DejaVu Sans"/>
              </a:rPr>
              <a:t>The proposed advantage</a:t>
            </a:r>
          </a:p>
        </p:txBody>
      </p:sp>
      <p:sp>
        <p:nvSpPr>
          <p:cNvPr id="7" name="">
            <a:extLst xmlns:a="http://schemas.openxmlformats.org/drawingml/2006/main">
              <a:ext uri="{FF2B5EF4-FFF2-40B4-BE49-F238E27FC236}">
                <a16:creationId xmlns:a16="http://schemas.microsoft.com/office/drawing/2014/main" id="{488DDDAA-538F-450E-9900-3E48CA9CDE2B}"/>
              </a:ext>
            </a:extLst>
          </p:cNvPr>
          <p:cNvSpPr>
            <a:spLocks xmlns:a="http://schemas.openxmlformats.org/drawingml/2006/main" noGrp="1"/>
          </p:cNvSpPr>
          <p:nvPr/>
        </p:nvSpPr>
        <p:spPr>
          <a:xfrm xmlns:a="http://schemas.openxmlformats.org/drawingml/2006/main">
            <a:off x="571500" y="58864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56676B"/>
                </a:solidFill>
                <a:latin typeface="DejaVu Sans"/>
                <a:ea typeface="DejaVu Sans"/>
                <a:cs typeface="DejaVu Sans"/>
              </a:defRPr>
            </a:pPr>
            <a:r>
              <a:rPr sz="1650" b="0">
                <a:solidFill>
                  <a:srgbClr val="56676B"/>
                </a:solidFill>
                <a:latin typeface="DejaVu Sans"/>
                <a:ea typeface="DejaVu Sans"/>
                <a:cs typeface="DejaVu Sans"/>
              </a:rPr>
              <a:t>Proposed edge: site access and fleet commitments on specific routes. Advantage remains unproven.</a:t>
            </a:r>
          </a:p>
        </p:txBody>
      </p:sp>
      <p:sp>
        <p:nvSpPr>
          <p:cNvPr id="8" name="">
            <a:extLst xmlns:a="http://schemas.openxmlformats.org/drawingml/2006/main">
              <a:ext uri="{FF2B5EF4-FFF2-40B4-BE49-F238E27FC236}">
                <a16:creationId xmlns:a16="http://schemas.microsoft.com/office/drawing/2014/main" id="{B64341AF-A410-47FC-BF29-594DD9D0E63D}"/>
              </a:ext>
            </a:extLst>
          </p:cNvPr>
          <p:cNvSpPr>
            <a:spLocks xmlns:a="http://schemas.openxmlformats.org/drawingml/2006/main" noGrp="1"/>
          </p:cNvSpPr>
          <p:nvPr/>
        </p:nvSpPr>
        <p:spPr>
          <a:xfrm xmlns:a="http://schemas.openxmlformats.org/drawingml/2006/main">
            <a:off x="571500" y="6200775"/>
            <a:ext cx="10858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75" b="0">
                <a:solidFill>
                  <a:srgbClr val="56676B"/>
                </a:solidFill>
                <a:latin typeface="DejaVu Sans"/>
                <a:ea typeface="DejaVu Sans"/>
                <a:cs typeface="DejaVu Sans"/>
              </a:defRPr>
            </a:pPr>
            <a:r>
              <a:rPr sz="975" b="0">
                <a:solidFill>
                  <a:srgbClr val="56676B"/>
                </a:solidFill>
                <a:latin typeface="DejaVu Sans"/>
                <a:ea typeface="DejaVu Sans"/>
                <a:cs typeface="DejaVu Sans"/>
              </a:rPr>
              <a:t>Sources: terawattinfrastructure.com/solutions/trucking-fleets and drivegreenlane.com/locations/colton-ca (Sept. 2026).</a:t>
            </a:r>
          </a:p>
        </p:txBody>
      </p:sp>
    </p:spTree>
    <p:extLst>
      <p:ext uri="{BB962C8B-B14F-4D97-AF65-F5344CB8AC3E}">
        <p14:creationId xmlns:p14="http://schemas.microsoft.com/office/powerpoint/2010/main" val="1364523502"/>
      </p:ext>
    </p:extLst>
  </p:cSld>
</p:sld>
</file>

<file path=ppt/slides/slide6.xml><?xml version="1.0" encoding="utf-8"?>
<p:sld xmlns:p="http://schemas.openxmlformats.org/presentationml/2006/main">
  <p:cSld>
    <p:bg>
      <p:bgPr>
        <a:solidFill xmlns:a="http://schemas.openxmlformats.org/drawingml/2006/main">
          <a:srgbClr val="081B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728B3B-593B-46F4-B6F1-DC3F712B26FB}"/>
              </a:ext>
            </a:extLst>
          </p:cNvPr>
          <p:cNvSpPr>
            <a:spLocks xmlns:a="http://schemas.openxmlformats.org/drawingml/2006/main" noGrp="1"/>
          </p:cNvSpPr>
          <p:nvPr/>
        </p:nvSpPr>
        <p:spPr>
          <a:xfrm xmlns:a="http://schemas.openxmlformats.org/drawingml/2006/main">
            <a:off x="552450" y="466725"/>
            <a:ext cx="1108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How SemiSocket earns revenue</a:t>
            </a:r>
          </a:p>
        </p:txBody>
      </p:sp>
      <p:sp>
        <p:nvSpPr>
          <p:cNvPr id="2" name="">
            <a:extLst xmlns:a="http://schemas.openxmlformats.org/drawingml/2006/main">
              <a:ext uri="{FF2B5EF4-FFF2-40B4-BE49-F238E27FC236}">
                <a16:creationId xmlns:a16="http://schemas.microsoft.com/office/drawing/2014/main" id="{AEBB6771-D94F-4F07-9098-5E7B6DCC651A}"/>
              </a:ext>
            </a:extLst>
          </p:cNvPr>
          <p:cNvSpPr>
            <a:spLocks xmlns:a="http://schemas.openxmlformats.org/drawingml/2006/main" noGrp="1"/>
          </p:cNvSpPr>
          <p:nvPr/>
        </p:nvSpPr>
        <p:spPr>
          <a:xfrm xmlns:a="http://schemas.openxmlformats.org/drawingml/2006/main">
            <a:off x="571500" y="14859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DCDCD"/>
                </a:solidFill>
                <a:latin typeface="DejaVu Sans"/>
                <a:ea typeface="DejaVu Sans"/>
                <a:cs typeface="DejaVu Sans"/>
              </a:defRPr>
            </a:pPr>
            <a:r>
              <a:rPr sz="1725" b="0">
                <a:solidFill>
                  <a:srgbClr val="BDCDCD"/>
                </a:solidFill>
                <a:latin typeface="DejaVu Sans"/>
                <a:ea typeface="DejaVu Sans"/>
                <a:cs typeface="DejaVu Sans"/>
              </a:rPr>
              <a:t>Energy sales provide the core revenue. Fleet agreements support predictable use.</a:t>
            </a:r>
          </a:p>
        </p:txBody>
      </p:sp>
      <p:sp>
        <p:nvSpPr>
          <p:cNvPr id="3" name="">
            <a:extLst xmlns:a="http://schemas.openxmlformats.org/drawingml/2006/main">
              <a:ext uri="{FF2B5EF4-FFF2-40B4-BE49-F238E27FC236}">
                <a16:creationId xmlns:a16="http://schemas.microsoft.com/office/drawing/2014/main" id="{0F1C50E9-1513-4927-991A-F4E3848F3C86}"/>
              </a:ext>
            </a:extLst>
          </p:cNvPr>
          <p:cNvSpPr>
            <a:spLocks xmlns:a="http://schemas.openxmlformats.org/drawingml/2006/main" noGrp="1"/>
          </p:cNvSpPr>
          <p:nvPr/>
        </p:nvSpPr>
        <p:spPr>
          <a:xfrm xmlns:a="http://schemas.openxmlformats.org/drawingml/2006/main">
            <a:off x="571500"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00" b="0">
                <a:solidFill>
                  <a:srgbClr val="ADC0C1"/>
                </a:solidFill>
                <a:latin typeface="DejaVu Sans"/>
                <a:ea typeface="DejaVu Sans"/>
                <a:cs typeface="DejaVu Sans"/>
              </a:defRPr>
            </a:pPr>
            <a:r>
              <a:rPr sz="900" b="0">
                <a:solidFill>
                  <a:srgbClr val="ADC0C1"/>
                </a:solidFill>
                <a:latin typeface="DejaVu Sans"/>
                <a:ea typeface="DejaVu Sans"/>
                <a:cs typeface="DejaVu Sans"/>
              </a:rPr>
              <a:t>SEMISOCKET  /  INVESTOR DISCUSSION DRAFT</a:t>
            </a:r>
          </a:p>
        </p:txBody>
      </p:sp>
      <p:sp>
        <p:nvSpPr>
          <p:cNvPr id="4" name="">
            <a:extLst xmlns:a="http://schemas.openxmlformats.org/drawingml/2006/main">
              <a:ext uri="{FF2B5EF4-FFF2-40B4-BE49-F238E27FC236}">
                <a16:creationId xmlns:a16="http://schemas.microsoft.com/office/drawing/2014/main" id="{DBE00F00-F55B-415D-A38E-7ECADC436C07}"/>
              </a:ext>
            </a:extLst>
          </p:cNvPr>
          <p:cNvSpPr>
            <a:spLocks xmlns:a="http://schemas.openxmlformats.org/drawingml/2006/main" noGrp="1"/>
          </p:cNvSpPr>
          <p:nvPr/>
        </p:nvSpPr>
        <p:spPr>
          <a:xfrm xmlns:a="http://schemas.openxmlformats.org/drawingml/2006/main">
            <a:off x="11144250"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C4F23B"/>
                </a:solidFill>
                <a:latin typeface="DejaVu Sans"/>
                <a:ea typeface="DejaVu Sans"/>
                <a:cs typeface="DejaVu Sans"/>
              </a:defRPr>
            </a:pPr>
            <a:r>
              <a:rPr sz="1350" b="1">
                <a:solidFill>
                  <a:srgbClr val="C4F23B"/>
                </a:solidFill>
                <a:latin typeface="DejaVu Sans"/>
                <a:ea typeface="DejaVu Sans"/>
                <a:cs typeface="DejaVu Sans"/>
              </a:rPr>
              <a:t>06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84065cd4fcd46ad"/>
          <a:srcRect xmlns:a="http://schemas.openxmlformats.org/drawingml/2006/main" l="4605" t="0" r="4605" b="0"/>
          <a:stretch xmlns:a="http://schemas.openxmlformats.org/drawingml/2006/main">
            <a:fillRect l="0" t="0" r="0" b="0"/>
          </a:stretch>
        </p:blipFill>
        <p:spPr>
          <a:xfrm xmlns:a="http://schemas.openxmlformats.org/drawingml/2006/main">
            <a:off x="7239000" y="2162175"/>
            <a:ext cx="4381500" cy="3619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617C9E4-62B9-4C19-902D-354994A187DC}"/>
              </a:ext>
            </a:extLst>
          </p:cNvPr>
          <p:cNvSpPr>
            <a:spLocks xmlns:a="http://schemas.openxmlformats.org/drawingml/2006/main" noGrp="1"/>
          </p:cNvSpPr>
          <p:nvPr/>
        </p:nvSpPr>
        <p:spPr>
          <a:xfrm xmlns:a="http://schemas.openxmlformats.org/drawingml/2006/main">
            <a:off x="571500" y="226695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C4F23B"/>
                </a:solidFill>
                <a:latin typeface="DejaVu Sans"/>
                <a:ea typeface="DejaVu Sans"/>
                <a:cs typeface="DejaVu Sans"/>
              </a:defRPr>
            </a:pPr>
            <a:r>
              <a:rPr sz="2025" b="1">
                <a:solidFill>
                  <a:srgbClr val="C4F23B"/>
                </a:solidFill>
                <a:latin typeface="DejaVu Sans"/>
                <a:ea typeface="DejaVu Sans"/>
                <a:cs typeface="DejaVu Sans"/>
              </a:rPr>
              <a:t>Charging revenue</a:t>
            </a:r>
          </a:p>
        </p:txBody>
      </p:sp>
      <p:sp>
        <p:nvSpPr>
          <p:cNvPr id="7" name="">
            <a:extLst xmlns:a="http://schemas.openxmlformats.org/drawingml/2006/main">
              <a:ext uri="{FF2B5EF4-FFF2-40B4-BE49-F238E27FC236}">
                <a16:creationId xmlns:a16="http://schemas.microsoft.com/office/drawing/2014/main" id="{D68F5310-0096-4011-8DAE-1DDAD4B71A21}"/>
              </a:ext>
            </a:extLst>
          </p:cNvPr>
          <p:cNvSpPr>
            <a:spLocks xmlns:a="http://schemas.openxmlformats.org/drawingml/2006/main" noGrp="1"/>
          </p:cNvSpPr>
          <p:nvPr/>
        </p:nvSpPr>
        <p:spPr>
          <a:xfrm xmlns:a="http://schemas.openxmlformats.org/drawingml/2006/main">
            <a:off x="571500" y="2724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E0E8E6"/>
                </a:solidFill>
                <a:latin typeface="DejaVu Sans"/>
                <a:ea typeface="DejaVu Sans"/>
                <a:cs typeface="DejaVu Sans"/>
              </a:defRPr>
            </a:pPr>
            <a:r>
              <a:rPr sz="1800" b="0">
                <a:solidFill>
                  <a:srgbClr val="E0E8E6"/>
                </a:solidFill>
                <a:latin typeface="DejaVu Sans"/>
                <a:ea typeface="DejaVu Sans"/>
                <a:cs typeface="DejaVu Sans"/>
              </a:rPr>
              <a:t>Illustrative realized price: $0.45/kWh. Fleets negotiate volume commitments and reserved access.</a:t>
            </a:r>
          </a:p>
        </p:txBody>
      </p:sp>
      <p:sp>
        <p:nvSpPr>
          <p:cNvPr id="8" name="">
            <a:extLst xmlns:a="http://schemas.openxmlformats.org/drawingml/2006/main">
              <a:ext uri="{FF2B5EF4-FFF2-40B4-BE49-F238E27FC236}">
                <a16:creationId xmlns:a16="http://schemas.microsoft.com/office/drawing/2014/main" id="{5E6631FA-69D4-44F3-A476-B675853B5FB2}"/>
              </a:ext>
            </a:extLst>
          </p:cNvPr>
          <p:cNvSpPr>
            <a:spLocks xmlns:a="http://schemas.openxmlformats.org/drawingml/2006/main" noGrp="1"/>
          </p:cNvSpPr>
          <p:nvPr/>
        </p:nvSpPr>
        <p:spPr>
          <a:xfrm xmlns:a="http://schemas.openxmlformats.org/drawingml/2006/main">
            <a:off x="571500" y="4086225"/>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C4F23B"/>
                </a:solidFill>
                <a:latin typeface="DejaVu Sans"/>
                <a:ea typeface="DejaVu Sans"/>
                <a:cs typeface="DejaVu Sans"/>
              </a:defRPr>
            </a:pPr>
            <a:r>
              <a:rPr sz="2025" b="1">
                <a:solidFill>
                  <a:srgbClr val="C4F23B"/>
                </a:solidFill>
                <a:latin typeface="DejaVu Sans"/>
                <a:ea typeface="DejaVu Sans"/>
                <a:cs typeface="DejaVu Sans"/>
              </a:rPr>
              <a:t>Operating model</a:t>
            </a:r>
          </a:p>
        </p:txBody>
      </p:sp>
      <p:sp>
        <p:nvSpPr>
          <p:cNvPr id="9" name="">
            <a:extLst xmlns:a="http://schemas.openxmlformats.org/drawingml/2006/main">
              <a:ext uri="{FF2B5EF4-FFF2-40B4-BE49-F238E27FC236}">
                <a16:creationId xmlns:a16="http://schemas.microsoft.com/office/drawing/2014/main" id="{B87A26F4-66A2-4FB3-BCAE-4AF127BD56BA}"/>
              </a:ext>
            </a:extLst>
          </p:cNvPr>
          <p:cNvSpPr>
            <a:spLocks xmlns:a="http://schemas.openxmlformats.org/drawingml/2006/main" noGrp="1"/>
          </p:cNvSpPr>
          <p:nvPr/>
        </p:nvSpPr>
        <p:spPr>
          <a:xfrm xmlns:a="http://schemas.openxmlformats.org/drawingml/2006/main">
            <a:off x="571500" y="4543425"/>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E0E8E6"/>
                </a:solidFill>
                <a:latin typeface="DejaVu Sans"/>
                <a:ea typeface="DejaVu Sans"/>
                <a:cs typeface="DejaVu Sans"/>
              </a:defRPr>
            </a:pPr>
            <a:r>
              <a:rPr sz="1800" b="0">
                <a:solidFill>
                  <a:srgbClr val="E0E8E6"/>
                </a:solidFill>
                <a:latin typeface="DejaVu Sans"/>
                <a:ea typeface="DejaVu Sans"/>
                <a:cs typeface="DejaVu Sans"/>
              </a:rPr>
              <a:t>Lease suitable sites. Buy proven equipment. SemiSocket manages customers, billing and uptime.</a:t>
            </a:r>
          </a:p>
        </p:txBody>
      </p:sp>
      <p:sp>
        <p:nvSpPr>
          <p:cNvPr id="10" name="">
            <a:extLst xmlns:a="http://schemas.openxmlformats.org/drawingml/2006/main">
              <a:ext uri="{FF2B5EF4-FFF2-40B4-BE49-F238E27FC236}">
                <a16:creationId xmlns:a16="http://schemas.microsoft.com/office/drawing/2014/main" id="{D3B004C9-727F-4CDD-B6F2-55D4779E0082}"/>
              </a:ext>
            </a:extLst>
          </p:cNvPr>
          <p:cNvSpPr>
            <a:spLocks xmlns:a="http://schemas.openxmlformats.org/drawingml/2006/main" noGrp="1"/>
          </p:cNvSpPr>
          <p:nvPr/>
        </p:nvSpPr>
        <p:spPr>
          <a:xfrm xmlns:a="http://schemas.openxmlformats.org/drawingml/2006/main">
            <a:off x="571500" y="5829300"/>
            <a:ext cx="619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BDCDCD"/>
                </a:solidFill>
                <a:latin typeface="DejaVu Sans"/>
                <a:ea typeface="DejaVu Sans"/>
                <a:cs typeface="DejaVu Sans"/>
              </a:defRPr>
            </a:pPr>
            <a:r>
              <a:rPr sz="1650" b="0">
                <a:solidFill>
                  <a:srgbClr val="BDCDCD"/>
                </a:solidFill>
                <a:latin typeface="DejaVu Sans"/>
                <a:ea typeface="DejaVu Sans"/>
                <a:cs typeface="DejaVu Sans"/>
              </a:rPr>
              <a:t>Base model excludes parking and amenity income.</a:t>
            </a:r>
          </a:p>
        </p:txBody>
      </p:sp>
      <p:sp>
        <p:nvSpPr>
          <p:cNvPr id="11" name="">
            <a:extLst xmlns:a="http://schemas.openxmlformats.org/drawingml/2006/main">
              <a:ext uri="{FF2B5EF4-FFF2-40B4-BE49-F238E27FC236}">
                <a16:creationId xmlns:a16="http://schemas.microsoft.com/office/drawing/2014/main" id="{DC6A8405-864E-4E2E-A448-F55AD4F5AFE9}"/>
              </a:ext>
            </a:extLst>
          </p:cNvPr>
          <p:cNvSpPr>
            <a:spLocks xmlns:a="http://schemas.openxmlformats.org/drawingml/2006/main" noGrp="1"/>
          </p:cNvSpPr>
          <p:nvPr/>
        </p:nvSpPr>
        <p:spPr>
          <a:xfrm xmlns:a="http://schemas.openxmlformats.org/drawingml/2006/main">
            <a:off x="7258050" y="6019800"/>
            <a:ext cx="428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BDCDCD"/>
                </a:solidFill>
                <a:latin typeface="DejaVu Sans"/>
                <a:ea typeface="DejaVu Sans"/>
                <a:cs typeface="DejaVu Sans"/>
              </a:defRPr>
            </a:pPr>
            <a:r>
              <a:rPr sz="1050" b="0">
                <a:solidFill>
                  <a:srgbClr val="BDCDCD"/>
                </a:solidFill>
                <a:latin typeface="DejaVu Sans"/>
                <a:ea typeface="DejaVu Sans"/>
                <a:cs typeface="DejaVu Sans"/>
              </a:rPr>
              <a:t>Concept rendering</a:t>
            </a:r>
          </a:p>
        </p:txBody>
      </p:sp>
    </p:spTree>
    <p:extLst>
      <p:ext uri="{BB962C8B-B14F-4D97-AF65-F5344CB8AC3E}">
        <p14:creationId xmlns:p14="http://schemas.microsoft.com/office/powerpoint/2010/main" val="4325761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87758F-4B26-41AE-9F3F-EF8EB0F3CDC0}"/>
              </a:ext>
            </a:extLst>
          </p:cNvPr>
          <p:cNvSpPr>
            <a:spLocks xmlns:a="http://schemas.openxmlformats.org/drawingml/2006/main" noGrp="1"/>
          </p:cNvSpPr>
          <p:nvPr/>
        </p:nvSpPr>
        <p:spPr>
          <a:xfrm xmlns:a="http://schemas.openxmlformats.org/drawingml/2006/main">
            <a:off x="552450" y="466725"/>
            <a:ext cx="1108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42C33"/>
                </a:solidFill>
                <a:latin typeface="DejaVu Sans"/>
                <a:ea typeface="DejaVu Sans"/>
                <a:cs typeface="DejaVu Sans"/>
              </a:defRPr>
            </a:pPr>
            <a:r>
              <a:rPr sz="3300" b="1">
                <a:solidFill>
                  <a:srgbClr val="142C33"/>
                </a:solidFill>
                <a:latin typeface="DejaVu Sans"/>
                <a:ea typeface="DejaVu Sans"/>
                <a:cs typeface="DejaVu Sans"/>
              </a:rPr>
              <a:t>Pilot economics depend on utilization</a:t>
            </a:r>
          </a:p>
        </p:txBody>
      </p:sp>
      <p:sp>
        <p:nvSpPr>
          <p:cNvPr id="2" name="">
            <a:extLst xmlns:a="http://schemas.openxmlformats.org/drawingml/2006/main">
              <a:ext uri="{FF2B5EF4-FFF2-40B4-BE49-F238E27FC236}">
                <a16:creationId xmlns:a16="http://schemas.microsoft.com/office/drawing/2014/main" id="{266C8D3F-D53E-4669-9B49-9CF042F0F98B}"/>
              </a:ext>
            </a:extLst>
          </p:cNvPr>
          <p:cNvSpPr>
            <a:spLocks xmlns:a="http://schemas.openxmlformats.org/drawingml/2006/main" noGrp="1"/>
          </p:cNvSpPr>
          <p:nvPr/>
        </p:nvSpPr>
        <p:spPr>
          <a:xfrm xmlns:a="http://schemas.openxmlformats.org/drawingml/2006/main">
            <a:off x="571500" y="14859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6B"/>
                </a:solidFill>
                <a:latin typeface="DejaVu Sans"/>
                <a:ea typeface="DejaVu Sans"/>
                <a:cs typeface="DejaVu Sans"/>
              </a:defRPr>
            </a:pPr>
            <a:r>
              <a:rPr sz="1725" b="0">
                <a:solidFill>
                  <a:srgbClr val="56676B"/>
                </a:solidFill>
                <a:latin typeface="DejaVu Sans"/>
                <a:ea typeface="DejaVu Sans"/>
                <a:cs typeface="DejaVu Sans"/>
              </a:rPr>
              <a:t>Illustrative six-bay site: 400 kWh/session, 365 days/year. No subsidies or debt.</a:t>
            </a:r>
          </a:p>
        </p:txBody>
      </p:sp>
      <p:sp>
        <p:nvSpPr>
          <p:cNvPr id="3" name="">
            <a:extLst xmlns:a="http://schemas.openxmlformats.org/drawingml/2006/main">
              <a:ext uri="{FF2B5EF4-FFF2-40B4-BE49-F238E27FC236}">
                <a16:creationId xmlns:a16="http://schemas.microsoft.com/office/drawing/2014/main" id="{12C150B1-5610-44EA-AED6-CDC00771D34A}"/>
              </a:ext>
            </a:extLst>
          </p:cNvPr>
          <p:cNvSpPr>
            <a:spLocks xmlns:a="http://schemas.openxmlformats.org/drawingml/2006/main" noGrp="1"/>
          </p:cNvSpPr>
          <p:nvPr/>
        </p:nvSpPr>
        <p:spPr>
          <a:xfrm xmlns:a="http://schemas.openxmlformats.org/drawingml/2006/main">
            <a:off x="571500"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00" b="0">
                <a:solidFill>
                  <a:srgbClr val="56676B"/>
                </a:solidFill>
                <a:latin typeface="DejaVu Sans"/>
                <a:ea typeface="DejaVu Sans"/>
                <a:cs typeface="DejaVu Sans"/>
              </a:defRPr>
            </a:pPr>
            <a:r>
              <a:rPr sz="900" b="0">
                <a:solidFill>
                  <a:srgbClr val="56676B"/>
                </a:solidFill>
                <a:latin typeface="DejaVu Sans"/>
                <a:ea typeface="DejaVu Sans"/>
                <a:cs typeface="DejaVu Sans"/>
              </a:rPr>
              <a:t>SEMISOCKET  /  INVESTOR DISCUSSION DRAFT</a:t>
            </a:r>
          </a:p>
        </p:txBody>
      </p:sp>
      <p:sp>
        <p:nvSpPr>
          <p:cNvPr id="4" name="">
            <a:extLst xmlns:a="http://schemas.openxmlformats.org/drawingml/2006/main">
              <a:ext uri="{FF2B5EF4-FFF2-40B4-BE49-F238E27FC236}">
                <a16:creationId xmlns:a16="http://schemas.microsoft.com/office/drawing/2014/main" id="{E8DF7790-59BD-44AD-8BC1-CF9573A75B97}"/>
              </a:ext>
            </a:extLst>
          </p:cNvPr>
          <p:cNvSpPr>
            <a:spLocks xmlns:a="http://schemas.openxmlformats.org/drawingml/2006/main" noGrp="1"/>
          </p:cNvSpPr>
          <p:nvPr/>
        </p:nvSpPr>
        <p:spPr>
          <a:xfrm xmlns:a="http://schemas.openxmlformats.org/drawingml/2006/main">
            <a:off x="11144250"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142C33"/>
                </a:solidFill>
                <a:latin typeface="DejaVu Sans"/>
                <a:ea typeface="DejaVu Sans"/>
                <a:cs typeface="DejaVu Sans"/>
              </a:defRPr>
            </a:pPr>
            <a:r>
              <a:rPr sz="1350" b="1">
                <a:solidFill>
                  <a:srgbClr val="142C33"/>
                </a:solidFill>
                <a:latin typeface="DejaVu Sans"/>
                <a:ea typeface="DejaVu Sans"/>
                <a:cs typeface="DejaVu Sans"/>
              </a:rPr>
              <a:t>07</a:t>
            </a:r>
          </a:p>
        </p:txBody>
      </p:sp>
      <p:graphicFrame>
        <p:nvGraphicFramePr>
          <p:cNvPr id="13" name=""/>
          <p:cNvGraphicFramePr/>
          <p:nvPr/>
        </p:nvGraphicFramePr>
        <p:xfrm>
          <a:off xmlns:a="http://schemas.openxmlformats.org/drawingml/2006/main" x="571500" y="2190750"/>
          <a:ext xmlns:a="http://schemas.openxmlformats.org/drawingml/2006/main" cx="11049000" cy="2571750"/>
        </p:xfrm>
        <a:graphic xmlns:a="http://schemas.openxmlformats.org/drawingml/2006/main">
          <a:graphicData uri="http://schemas.openxmlformats.org/drawingml/2006/table">
            <a:tbl>
              <a:tblPr/>
              <a:tblGrid>
                <a:gridCol w="3790950"/>
                <a:gridCol w="2419350"/>
                <a:gridCol w="2419350"/>
                <a:gridCol w="2419350"/>
              </a:tblGrid>
              <a:tr h="514350">
                <a:tc>
                  <a:txBody>
                    <a:bodyPr lIns="133350" tIns="85725" rIns="95250" bIns="85725"/>
                    <a:lstStyle/>
                    <a:p>
                      <a:pPr algn="l"/>
                      <a:r>
                        <a:rPr sz="1725" b="1">
                          <a:solidFill>
                            <a:srgbClr val="FFFFFF"/>
                          </a:solidFill>
                          <a:latin typeface="DejaVu Sans"/>
                          <a:ea typeface="DejaVu Sans"/>
                          <a:cs typeface="DejaVu Sans"/>
                        </a:rPr>
                        <a:t>Annual metric</a:t>
                      </a:r>
                    </a:p>
                  </a:txBody>
                  <a:tcPr marL="91440" marR="91440" marT="45720" marB="45720" anchor="ctr">
                    <a:solidFill>
                      <a:srgbClr val="081B22"/>
                    </a:solidFill>
                  </a:tcPr>
                </a:tc>
                <a:tc>
                  <a:txBody>
                    <a:bodyPr lIns="133350" tIns="85725" rIns="95250" bIns="85725"/>
                    <a:lstStyle/>
                    <a:p>
                      <a:pPr algn="l"/>
                      <a:r>
                        <a:rPr sz="1725" b="1">
                          <a:solidFill>
                            <a:srgbClr val="FFFFFF"/>
                          </a:solidFill>
                          <a:latin typeface="DejaVu Sans"/>
                          <a:ea typeface="DejaVu Sans"/>
                          <a:cs typeface="DejaVu Sans"/>
                        </a:rPr>
                        <a:t>Low use</a:t>
                      </a:r>
                    </a:p>
                  </a:txBody>
                  <a:tcPr marL="91440" marR="91440" marT="45720" marB="45720" anchor="ctr">
                    <a:solidFill>
                      <a:srgbClr val="081B22"/>
                    </a:solidFill>
                  </a:tcPr>
                </a:tc>
                <a:tc>
                  <a:txBody>
                    <a:bodyPr lIns="133350" tIns="85725" rIns="95250" bIns="85725"/>
                    <a:lstStyle/>
                    <a:p>
                      <a:pPr algn="l"/>
                      <a:r>
                        <a:rPr sz="1725" b="1">
                          <a:solidFill>
                            <a:srgbClr val="FFFFFF"/>
                          </a:solidFill>
                          <a:latin typeface="DejaVu Sans"/>
                          <a:ea typeface="DejaVu Sans"/>
                          <a:cs typeface="DejaVu Sans"/>
                        </a:rPr>
                        <a:t>Base case</a:t>
                      </a:r>
                    </a:p>
                  </a:txBody>
                  <a:tcPr marL="91440" marR="91440" marT="45720" marB="45720" anchor="ctr">
                    <a:solidFill>
                      <a:srgbClr val="081B22"/>
                    </a:solidFill>
                  </a:tcPr>
                </a:tc>
                <a:tc>
                  <a:txBody>
                    <a:bodyPr lIns="133350" tIns="85725" rIns="95250" bIns="85725"/>
                    <a:lstStyle/>
                    <a:p>
                      <a:pPr algn="l"/>
                      <a:r>
                        <a:rPr sz="1725" b="1">
                          <a:solidFill>
                            <a:srgbClr val="FFFFFF"/>
                          </a:solidFill>
                          <a:latin typeface="DejaVu Sans"/>
                          <a:ea typeface="DejaVu Sans"/>
                          <a:cs typeface="DejaVu Sans"/>
                        </a:rPr>
                        <a:t>High use</a:t>
                      </a:r>
                    </a:p>
                  </a:txBody>
                  <a:tcPr marL="91440" marR="91440" marT="45720" marB="45720" anchor="ctr">
                    <a:solidFill>
                      <a:srgbClr val="081B22"/>
                    </a:solidFill>
                  </a:tcPr>
                </a:tc>
              </a:tr>
              <a:tr h="514350">
                <a:tc>
                  <a:txBody>
                    <a:bodyPr lIns="133350" tIns="85725" rIns="95250" bIns="85725"/>
                    <a:lstStyle/>
                    <a:p>
                      <a:pPr algn="l"/>
                      <a:r>
                        <a:rPr sz="1725" b="1">
                          <a:solidFill>
                            <a:srgbClr val="142C33"/>
                          </a:solidFill>
                          <a:latin typeface="DejaVu Sans"/>
                          <a:ea typeface="DejaVu Sans"/>
                          <a:cs typeface="DejaVu Sans"/>
                        </a:rPr>
                        <a:t>Sessions per day</a:t>
                      </a:r>
                    </a:p>
                  </a:txBody>
                  <a:tcPr marL="91440" marR="91440" marT="45720" marB="45720" anchor="ctr">
                    <a:solidFill>
                      <a:srgbClr val="F1F4EF"/>
                    </a:solidFill>
                  </a:tcPr>
                </a:tc>
                <a:tc>
                  <a:txBody>
                    <a:bodyPr lIns="133350" tIns="85725" rIns="95250" bIns="85725"/>
                    <a:lstStyle/>
                    <a:p>
                      <a:pPr algn="l"/>
                      <a:r>
                        <a:rPr sz="1725" b="0">
                          <a:solidFill>
                            <a:srgbClr val="142C33"/>
                          </a:solidFill>
                          <a:latin typeface="DejaVu Sans"/>
                          <a:ea typeface="DejaVu Sans"/>
                          <a:cs typeface="DejaVu Sans"/>
                        </a:rPr>
                        <a:t>12</a:t>
                      </a:r>
                    </a:p>
                  </a:txBody>
                  <a:tcPr marL="91440" marR="91440" marT="45720" marB="45720" anchor="ctr">
                    <a:solidFill>
                      <a:srgbClr val="F1F4EF"/>
                    </a:solidFill>
                  </a:tcPr>
                </a:tc>
                <a:tc>
                  <a:txBody>
                    <a:bodyPr lIns="133350" tIns="85725" rIns="95250" bIns="85725"/>
                    <a:lstStyle/>
                    <a:p>
                      <a:pPr algn="l"/>
                      <a:r>
                        <a:rPr sz="1725" b="0">
                          <a:solidFill>
                            <a:srgbClr val="142C33"/>
                          </a:solidFill>
                          <a:latin typeface="DejaVu Sans"/>
                          <a:ea typeface="DejaVu Sans"/>
                          <a:cs typeface="DejaVu Sans"/>
                        </a:rPr>
                        <a:t>24</a:t>
                      </a:r>
                    </a:p>
                  </a:txBody>
                  <a:tcPr marL="91440" marR="91440" marT="45720" marB="45720" anchor="ctr">
                    <a:solidFill>
                      <a:srgbClr val="F1F4EF"/>
                    </a:solidFill>
                  </a:tcPr>
                </a:tc>
                <a:tc>
                  <a:txBody>
                    <a:bodyPr lIns="133350" tIns="85725" rIns="95250" bIns="85725"/>
                    <a:lstStyle/>
                    <a:p>
                      <a:pPr algn="l"/>
                      <a:r>
                        <a:rPr sz="1725" b="0">
                          <a:solidFill>
                            <a:srgbClr val="142C33"/>
                          </a:solidFill>
                          <a:latin typeface="DejaVu Sans"/>
                          <a:ea typeface="DejaVu Sans"/>
                          <a:cs typeface="DejaVu Sans"/>
                        </a:rPr>
                        <a:t>36</a:t>
                      </a:r>
                    </a:p>
                  </a:txBody>
                  <a:tcPr marL="91440" marR="91440" marT="45720" marB="45720" anchor="ctr">
                    <a:solidFill>
                      <a:srgbClr val="F1F4EF"/>
                    </a:solidFill>
                  </a:tcPr>
                </a:tc>
              </a:tr>
              <a:tr h="514350">
                <a:tc>
                  <a:txBody>
                    <a:bodyPr lIns="133350" tIns="85725" rIns="95250" bIns="85725"/>
                    <a:lstStyle/>
                    <a:p>
                      <a:pPr algn="l"/>
                      <a:r>
                        <a:rPr sz="1725" b="1">
                          <a:solidFill>
                            <a:srgbClr val="142C33"/>
                          </a:solidFill>
                          <a:latin typeface="DejaVu Sans"/>
                          <a:ea typeface="DejaVu Sans"/>
                          <a:cs typeface="DejaVu Sans"/>
                        </a:rPr>
                        <a:t>Energy delivered</a:t>
                      </a:r>
                    </a:p>
                  </a:txBody>
                  <a:tcPr marL="91440" marR="91440" marT="45720" marB="45720" anchor="ctr">
                    <a:solidFill>
                      <a:srgbClr val="FFFFFF"/>
                    </a:solidFill>
                  </a:tcPr>
                </a:tc>
                <a:tc>
                  <a:txBody>
                    <a:bodyPr lIns="133350" tIns="85725" rIns="95250" bIns="85725"/>
                    <a:lstStyle/>
                    <a:p>
                      <a:pPr algn="l"/>
                      <a:r>
                        <a:rPr sz="1725" b="0">
                          <a:solidFill>
                            <a:srgbClr val="142C33"/>
                          </a:solidFill>
                          <a:latin typeface="DejaVu Sans"/>
                          <a:ea typeface="DejaVu Sans"/>
                          <a:cs typeface="DejaVu Sans"/>
                        </a:rPr>
                        <a:t>1.752 GWh</a:t>
                      </a:r>
                    </a:p>
                  </a:txBody>
                  <a:tcPr marL="91440" marR="91440" marT="45720" marB="45720" anchor="ctr">
                    <a:solidFill>
                      <a:srgbClr val="FFFFFF"/>
                    </a:solidFill>
                  </a:tcPr>
                </a:tc>
                <a:tc>
                  <a:txBody>
                    <a:bodyPr lIns="133350" tIns="85725" rIns="95250" bIns="85725"/>
                    <a:lstStyle/>
                    <a:p>
                      <a:pPr algn="l"/>
                      <a:r>
                        <a:rPr sz="1725" b="0">
                          <a:solidFill>
                            <a:srgbClr val="142C33"/>
                          </a:solidFill>
                          <a:latin typeface="DejaVu Sans"/>
                          <a:ea typeface="DejaVu Sans"/>
                          <a:cs typeface="DejaVu Sans"/>
                        </a:rPr>
                        <a:t>3.504 GWh</a:t>
                      </a:r>
                    </a:p>
                  </a:txBody>
                  <a:tcPr marL="91440" marR="91440" marT="45720" marB="45720" anchor="ctr">
                    <a:solidFill>
                      <a:srgbClr val="FFFFFF"/>
                    </a:solidFill>
                  </a:tcPr>
                </a:tc>
                <a:tc>
                  <a:txBody>
                    <a:bodyPr lIns="133350" tIns="85725" rIns="95250" bIns="85725"/>
                    <a:lstStyle/>
                    <a:p>
                      <a:pPr algn="l"/>
                      <a:r>
                        <a:rPr sz="1725" b="0">
                          <a:solidFill>
                            <a:srgbClr val="142C33"/>
                          </a:solidFill>
                          <a:latin typeface="DejaVu Sans"/>
                          <a:ea typeface="DejaVu Sans"/>
                          <a:cs typeface="DejaVu Sans"/>
                        </a:rPr>
                        <a:t>5.256 GWh</a:t>
                      </a:r>
                    </a:p>
                  </a:txBody>
                  <a:tcPr marL="91440" marR="91440" marT="45720" marB="45720" anchor="ctr">
                    <a:solidFill>
                      <a:srgbClr val="FFFFFF"/>
                    </a:solidFill>
                  </a:tcPr>
                </a:tc>
              </a:tr>
              <a:tr h="514350">
                <a:tc>
                  <a:txBody>
                    <a:bodyPr lIns="133350" tIns="85725" rIns="95250" bIns="85725"/>
                    <a:lstStyle/>
                    <a:p>
                      <a:pPr algn="l"/>
                      <a:r>
                        <a:rPr sz="1725" b="1">
                          <a:solidFill>
                            <a:srgbClr val="142C33"/>
                          </a:solidFill>
                          <a:latin typeface="DejaVu Sans"/>
                          <a:ea typeface="DejaVu Sans"/>
                          <a:cs typeface="DejaVu Sans"/>
                        </a:rPr>
                        <a:t>Charging revenue</a:t>
                      </a:r>
                    </a:p>
                  </a:txBody>
                  <a:tcPr marL="91440" marR="91440" marT="45720" marB="45720" anchor="ctr">
                    <a:solidFill>
                      <a:srgbClr val="F1F4EF"/>
                    </a:solidFill>
                  </a:tcPr>
                </a:tc>
                <a:tc>
                  <a:txBody>
                    <a:bodyPr lIns="133350" tIns="85725" rIns="95250" bIns="85725"/>
                    <a:lstStyle/>
                    <a:p>
                      <a:pPr algn="l"/>
                      <a:r>
                        <a:rPr sz="1725" b="0">
                          <a:solidFill>
                            <a:srgbClr val="142C33"/>
                          </a:solidFill>
                          <a:latin typeface="DejaVu Sans"/>
                          <a:ea typeface="DejaVu Sans"/>
                          <a:cs typeface="DejaVu Sans"/>
                        </a:rPr>
                        <a:t>$0.788M</a:t>
                      </a:r>
                    </a:p>
                  </a:txBody>
                  <a:tcPr marL="91440" marR="91440" marT="45720" marB="45720" anchor="ctr">
                    <a:solidFill>
                      <a:srgbClr val="F1F4EF"/>
                    </a:solidFill>
                  </a:tcPr>
                </a:tc>
                <a:tc>
                  <a:txBody>
                    <a:bodyPr lIns="133350" tIns="85725" rIns="95250" bIns="85725"/>
                    <a:lstStyle/>
                    <a:p>
                      <a:pPr algn="l"/>
                      <a:r>
                        <a:rPr sz="1725" b="0">
                          <a:solidFill>
                            <a:srgbClr val="142C33"/>
                          </a:solidFill>
                          <a:latin typeface="DejaVu Sans"/>
                          <a:ea typeface="DejaVu Sans"/>
                          <a:cs typeface="DejaVu Sans"/>
                        </a:rPr>
                        <a:t>$1.577M</a:t>
                      </a:r>
                    </a:p>
                  </a:txBody>
                  <a:tcPr marL="91440" marR="91440" marT="45720" marB="45720" anchor="ctr">
                    <a:solidFill>
                      <a:srgbClr val="F1F4EF"/>
                    </a:solidFill>
                  </a:tcPr>
                </a:tc>
                <a:tc>
                  <a:txBody>
                    <a:bodyPr lIns="133350" tIns="85725" rIns="95250" bIns="85725"/>
                    <a:lstStyle/>
                    <a:p>
                      <a:pPr algn="l"/>
                      <a:r>
                        <a:rPr sz="1725" b="0">
                          <a:solidFill>
                            <a:srgbClr val="142C33"/>
                          </a:solidFill>
                          <a:latin typeface="DejaVu Sans"/>
                          <a:ea typeface="DejaVu Sans"/>
                          <a:cs typeface="DejaVu Sans"/>
                        </a:rPr>
                        <a:t>$2.365M</a:t>
                      </a:r>
                    </a:p>
                  </a:txBody>
                  <a:tcPr marL="91440" marR="91440" marT="45720" marB="45720" anchor="ctr">
                    <a:solidFill>
                      <a:srgbClr val="F1F4EF"/>
                    </a:solidFill>
                  </a:tcPr>
                </a:tc>
              </a:tr>
              <a:tr h="514350">
                <a:tc>
                  <a:txBody>
                    <a:bodyPr lIns="133350" tIns="85725" rIns="95250" bIns="85725"/>
                    <a:lstStyle/>
                    <a:p>
                      <a:pPr algn="l"/>
                      <a:r>
                        <a:rPr sz="1725" b="1">
                          <a:solidFill>
                            <a:srgbClr val="142C33"/>
                          </a:solidFill>
                          <a:latin typeface="DejaVu Sans"/>
                          <a:ea typeface="DejaVu Sans"/>
                          <a:cs typeface="DejaVu Sans"/>
                        </a:rPr>
                        <a:t>Site EBITDA¹</a:t>
                      </a:r>
                    </a:p>
                  </a:txBody>
                  <a:tcPr marL="91440" marR="91440" marT="45720" marB="45720" anchor="ctr">
                    <a:solidFill>
                      <a:srgbClr val="FFFFFF"/>
                    </a:solidFill>
                  </a:tcPr>
                </a:tc>
                <a:tc>
                  <a:txBody>
                    <a:bodyPr lIns="133350" tIns="85725" rIns="95250" bIns="85725"/>
                    <a:lstStyle/>
                    <a:p>
                      <a:pPr algn="l"/>
                      <a:r>
                        <a:rPr sz="1725" b="0">
                          <a:solidFill>
                            <a:srgbClr val="142C33"/>
                          </a:solidFill>
                          <a:latin typeface="DejaVu Sans"/>
                          <a:ea typeface="DejaVu Sans"/>
                          <a:cs typeface="DejaVu Sans"/>
                        </a:rPr>
                        <a:t>$0.088M</a:t>
                      </a:r>
                    </a:p>
                  </a:txBody>
                  <a:tcPr marL="91440" marR="91440" marT="45720" marB="45720" anchor="ctr">
                    <a:solidFill>
                      <a:srgbClr val="FFFFFF"/>
                    </a:solidFill>
                  </a:tcPr>
                </a:tc>
                <a:tc>
                  <a:txBody>
                    <a:bodyPr lIns="133350" tIns="85725" rIns="95250" bIns="85725"/>
                    <a:lstStyle/>
                    <a:p>
                      <a:pPr algn="l"/>
                      <a:r>
                        <a:rPr sz="1725" b="0">
                          <a:solidFill>
                            <a:srgbClr val="142C33"/>
                          </a:solidFill>
                          <a:latin typeface="DejaVu Sans"/>
                          <a:ea typeface="DejaVu Sans"/>
                          <a:cs typeface="DejaVu Sans"/>
                        </a:rPr>
                        <a:t>$0.526M</a:t>
                      </a:r>
                    </a:p>
                  </a:txBody>
                  <a:tcPr marL="91440" marR="91440" marT="45720" marB="45720" anchor="ctr">
                    <a:solidFill>
                      <a:srgbClr val="FFFFFF"/>
                    </a:solidFill>
                  </a:tcPr>
                </a:tc>
                <a:tc>
                  <a:txBody>
                    <a:bodyPr lIns="133350" tIns="85725" rIns="95250" bIns="85725"/>
                    <a:lstStyle/>
                    <a:p>
                      <a:pPr algn="l"/>
                      <a:r>
                        <a:rPr sz="1725" b="0">
                          <a:solidFill>
                            <a:srgbClr val="142C33"/>
                          </a:solidFill>
                          <a:latin typeface="DejaVu Sans"/>
                          <a:ea typeface="DejaVu Sans"/>
                          <a:cs typeface="DejaVu Sans"/>
                        </a:rPr>
                        <a:t>$0.964M</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32CAE86-D3FC-4E42-9D9C-EDE762A0D125}"/>
              </a:ext>
            </a:extLst>
          </p:cNvPr>
          <p:cNvSpPr>
            <a:spLocks xmlns:a="http://schemas.openxmlformats.org/drawingml/2006/main" noGrp="1"/>
          </p:cNvSpPr>
          <p:nvPr/>
        </p:nvSpPr>
        <p:spPr>
          <a:xfrm xmlns:a="http://schemas.openxmlformats.org/drawingml/2006/main">
            <a:off x="571500" y="5038725"/>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142C33"/>
                </a:solidFill>
                <a:latin typeface="DejaVu Sans"/>
                <a:ea typeface="DejaVu Sans"/>
                <a:cs typeface="DejaVu Sans"/>
              </a:defRPr>
            </a:pPr>
            <a:r>
              <a:rPr sz="1875" b="1">
                <a:solidFill>
                  <a:srgbClr val="142C33"/>
                </a:solidFill>
                <a:latin typeface="DejaVu Sans"/>
                <a:ea typeface="DejaVu Sans"/>
                <a:cs typeface="DejaVu Sans"/>
              </a:rPr>
              <a:t>$0.45/kWh sales − $0.20/kWh variable cost − $350K annual fixed cost</a:t>
            </a:r>
          </a:p>
        </p:txBody>
      </p:sp>
      <p:sp>
        <p:nvSpPr>
          <p:cNvPr id="7" name="">
            <a:extLst xmlns:a="http://schemas.openxmlformats.org/drawingml/2006/main">
              <a:ext uri="{FF2B5EF4-FFF2-40B4-BE49-F238E27FC236}">
                <a16:creationId xmlns:a16="http://schemas.microsoft.com/office/drawing/2014/main" id="{FD353DBC-91C4-4340-9520-D2934A7533CF}"/>
              </a:ext>
            </a:extLst>
          </p:cNvPr>
          <p:cNvSpPr>
            <a:spLocks xmlns:a="http://schemas.openxmlformats.org/drawingml/2006/main" noGrp="1"/>
          </p:cNvSpPr>
          <p:nvPr/>
        </p:nvSpPr>
        <p:spPr>
          <a:xfrm xmlns:a="http://schemas.openxmlformats.org/drawingml/2006/main">
            <a:off x="571500" y="5486400"/>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6B"/>
                </a:solidFill>
                <a:latin typeface="DejaVu Sans"/>
                <a:ea typeface="DejaVu Sans"/>
                <a:cs typeface="DejaVu Sans"/>
              </a:defRPr>
            </a:pPr>
            <a:r>
              <a:rPr sz="1725" b="0">
                <a:solidFill>
                  <a:srgbClr val="56676B"/>
                </a:solidFill>
                <a:latin typeface="DejaVu Sans"/>
                <a:ea typeface="DejaVu Sans"/>
                <a:cs typeface="DejaVu Sans"/>
              </a:rPr>
              <a:t>~10 sessions/day operating break-even. Base simple capex payback: ~8.6 years.</a:t>
            </a:r>
          </a:p>
        </p:txBody>
      </p:sp>
      <p:sp>
        <p:nvSpPr>
          <p:cNvPr id="8" name="">
            <a:extLst xmlns:a="http://schemas.openxmlformats.org/drawingml/2006/main">
              <a:ext uri="{FF2B5EF4-FFF2-40B4-BE49-F238E27FC236}">
                <a16:creationId xmlns:a16="http://schemas.microsoft.com/office/drawing/2014/main" id="{12BBB7D7-ED8F-4B1C-AAE4-96E69D635AD9}"/>
              </a:ext>
            </a:extLst>
          </p:cNvPr>
          <p:cNvSpPr>
            <a:spLocks xmlns:a="http://schemas.openxmlformats.org/drawingml/2006/main" noGrp="1"/>
          </p:cNvSpPr>
          <p:nvPr/>
        </p:nvSpPr>
        <p:spPr>
          <a:xfrm xmlns:a="http://schemas.openxmlformats.org/drawingml/2006/main">
            <a:off x="571500" y="59436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6B"/>
                </a:solidFill>
                <a:latin typeface="DejaVu Sans"/>
                <a:ea typeface="DejaVu Sans"/>
                <a:cs typeface="DejaVu Sans"/>
              </a:defRPr>
            </a:pPr>
            <a:r>
              <a:rPr sz="1275" b="0">
                <a:solidFill>
                  <a:srgbClr val="56676B"/>
                </a:solidFill>
                <a:latin typeface="DejaVu Sans"/>
                <a:ea typeface="DejaVu Sans"/>
                <a:cs typeface="DejaVu Sans"/>
              </a:rPr>
              <a:t>¹ Before corporate costs, debt, tax, depreciation and equipment replacement. A $0.05/kWh cost increase cuts base EBITDA by $175K.</a:t>
            </a:r>
          </a:p>
        </p:txBody>
      </p:sp>
    </p:spTree>
    <p:extLst>
      <p:ext uri="{BB962C8B-B14F-4D97-AF65-F5344CB8AC3E}">
        <p14:creationId xmlns:p14="http://schemas.microsoft.com/office/powerpoint/2010/main" val="19730607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051BFF-F791-46EA-959C-D02955C91A6A}"/>
              </a:ext>
            </a:extLst>
          </p:cNvPr>
          <p:cNvSpPr>
            <a:spLocks xmlns:a="http://schemas.openxmlformats.org/drawingml/2006/main" noGrp="1"/>
          </p:cNvSpPr>
          <p:nvPr/>
        </p:nvSpPr>
        <p:spPr>
          <a:xfrm xmlns:a="http://schemas.openxmlformats.org/drawingml/2006/main">
            <a:off x="552450" y="466725"/>
            <a:ext cx="1108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42C33"/>
                </a:solidFill>
                <a:latin typeface="DejaVu Sans"/>
                <a:ea typeface="DejaVu Sans"/>
                <a:cs typeface="DejaVu Sans"/>
              </a:defRPr>
            </a:pPr>
            <a:r>
              <a:rPr sz="3300" b="1">
                <a:solidFill>
                  <a:srgbClr val="142C33"/>
                </a:solidFill>
                <a:latin typeface="DejaVu Sans"/>
                <a:ea typeface="DejaVu Sans"/>
                <a:cs typeface="DejaVu Sans"/>
              </a:rPr>
              <a:t>Three-year operating scenario</a:t>
            </a:r>
          </a:p>
        </p:txBody>
      </p:sp>
      <p:sp>
        <p:nvSpPr>
          <p:cNvPr id="2" name="">
            <a:extLst xmlns:a="http://schemas.openxmlformats.org/drawingml/2006/main">
              <a:ext uri="{FF2B5EF4-FFF2-40B4-BE49-F238E27FC236}">
                <a16:creationId xmlns:a16="http://schemas.microsoft.com/office/drawing/2014/main" id="{E88EEC75-9544-4E5A-B9E3-FA72594DC242}"/>
              </a:ext>
            </a:extLst>
          </p:cNvPr>
          <p:cNvSpPr>
            <a:spLocks xmlns:a="http://schemas.openxmlformats.org/drawingml/2006/main" noGrp="1"/>
          </p:cNvSpPr>
          <p:nvPr/>
        </p:nvSpPr>
        <p:spPr>
          <a:xfrm xmlns:a="http://schemas.openxmlformats.org/drawingml/2006/main">
            <a:off x="571500" y="14859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6B"/>
                </a:solidFill>
                <a:latin typeface="DejaVu Sans"/>
                <a:ea typeface="DejaVu Sans"/>
                <a:cs typeface="DejaVu Sans"/>
              </a:defRPr>
            </a:pPr>
            <a:r>
              <a:rPr sz="1725" b="0">
                <a:solidFill>
                  <a:srgbClr val="56676B"/>
                </a:solidFill>
                <a:latin typeface="DejaVu Sans"/>
                <a:ea typeface="DejaVu Sans"/>
                <a:cs typeface="DejaVu Sans"/>
              </a:rPr>
              <a:t>Years begin with first pilot energization. Expansion requires additional capital.</a:t>
            </a:r>
          </a:p>
        </p:txBody>
      </p:sp>
      <p:sp>
        <p:nvSpPr>
          <p:cNvPr id="3" name="">
            <a:extLst xmlns:a="http://schemas.openxmlformats.org/drawingml/2006/main">
              <a:ext uri="{FF2B5EF4-FFF2-40B4-BE49-F238E27FC236}">
                <a16:creationId xmlns:a16="http://schemas.microsoft.com/office/drawing/2014/main" id="{92C0D579-5F01-4E53-8ED1-439B6A290281}"/>
              </a:ext>
            </a:extLst>
          </p:cNvPr>
          <p:cNvSpPr>
            <a:spLocks xmlns:a="http://schemas.openxmlformats.org/drawingml/2006/main" noGrp="1"/>
          </p:cNvSpPr>
          <p:nvPr/>
        </p:nvSpPr>
        <p:spPr>
          <a:xfrm xmlns:a="http://schemas.openxmlformats.org/drawingml/2006/main">
            <a:off x="571500"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00" b="0">
                <a:solidFill>
                  <a:srgbClr val="56676B"/>
                </a:solidFill>
                <a:latin typeface="DejaVu Sans"/>
                <a:ea typeface="DejaVu Sans"/>
                <a:cs typeface="DejaVu Sans"/>
              </a:defRPr>
            </a:pPr>
            <a:r>
              <a:rPr sz="900" b="0">
                <a:solidFill>
                  <a:srgbClr val="56676B"/>
                </a:solidFill>
                <a:latin typeface="DejaVu Sans"/>
                <a:ea typeface="DejaVu Sans"/>
                <a:cs typeface="DejaVu Sans"/>
              </a:rPr>
              <a:t>SEMISOCKET  /  INVESTOR DISCUSSION DRAFT</a:t>
            </a:r>
          </a:p>
        </p:txBody>
      </p:sp>
      <p:sp>
        <p:nvSpPr>
          <p:cNvPr id="4" name="">
            <a:extLst xmlns:a="http://schemas.openxmlformats.org/drawingml/2006/main">
              <a:ext uri="{FF2B5EF4-FFF2-40B4-BE49-F238E27FC236}">
                <a16:creationId xmlns:a16="http://schemas.microsoft.com/office/drawing/2014/main" id="{DBD1433A-DCCE-49E5-9631-152C6178F232}"/>
              </a:ext>
            </a:extLst>
          </p:cNvPr>
          <p:cNvSpPr>
            <a:spLocks xmlns:a="http://schemas.openxmlformats.org/drawingml/2006/main" noGrp="1"/>
          </p:cNvSpPr>
          <p:nvPr/>
        </p:nvSpPr>
        <p:spPr>
          <a:xfrm xmlns:a="http://schemas.openxmlformats.org/drawingml/2006/main">
            <a:off x="11144250"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142C33"/>
                </a:solidFill>
                <a:latin typeface="DejaVu Sans"/>
                <a:ea typeface="DejaVu Sans"/>
                <a:cs typeface="DejaVu Sans"/>
              </a:defRPr>
            </a:pPr>
            <a:r>
              <a:rPr sz="1350" b="1">
                <a:solidFill>
                  <a:srgbClr val="142C33"/>
                </a:solidFill>
                <a:latin typeface="DejaVu Sans"/>
                <a:ea typeface="DejaVu Sans"/>
                <a:cs typeface="DejaVu Sans"/>
              </a:rPr>
              <a:t>08</a:t>
            </a:r>
          </a:p>
        </p:txBody>
      </p:sp>
      <p:graphicFrame>
        <p:nvGraphicFramePr>
          <p:cNvPr id="12" name=""/>
          <p:cNvGraphicFramePr/>
          <p:nvPr/>
        </p:nvGraphicFramePr>
        <p:xfrm>
          <a:off xmlns:a="http://schemas.openxmlformats.org/drawingml/2006/main" x="571500" y="2133600"/>
          <a:ext xmlns:a="http://schemas.openxmlformats.org/drawingml/2006/main" cx="11049000" cy="3581400"/>
        </p:xfrm>
        <a:graphic xmlns:a="http://schemas.openxmlformats.org/drawingml/2006/main">
          <a:graphicData uri="http://schemas.openxmlformats.org/drawingml/2006/table">
            <a:tbl>
              <a:tblPr/>
              <a:tblGrid>
                <a:gridCol w="5048250"/>
                <a:gridCol w="2000250"/>
                <a:gridCol w="2000250"/>
                <a:gridCol w="2000250"/>
              </a:tblGrid>
              <a:tr h="447675">
                <a:tc>
                  <a:txBody>
                    <a:bodyPr lIns="133350" tIns="85725" rIns="95250" bIns="85725"/>
                    <a:lstStyle/>
                    <a:p>
                      <a:pPr algn="l"/>
                      <a:r>
                        <a:rPr sz="1575" b="1">
                          <a:solidFill>
                            <a:srgbClr val="FFFFFF"/>
                          </a:solidFill>
                          <a:latin typeface="DejaVu Sans"/>
                          <a:ea typeface="DejaVu Sans"/>
                          <a:cs typeface="DejaVu Sans"/>
                        </a:rPr>
                        <a:t>USD millions, unless indicated</a:t>
                      </a:r>
                    </a:p>
                  </a:txBody>
                  <a:tcPr marL="91440" marR="91440" marT="45720" marB="45720" anchor="ctr">
                    <a:solidFill>
                      <a:srgbClr val="081B22"/>
                    </a:solidFill>
                  </a:tcPr>
                </a:tc>
                <a:tc>
                  <a:txBody>
                    <a:bodyPr lIns="133350" tIns="85725" rIns="95250" bIns="85725"/>
                    <a:lstStyle/>
                    <a:p>
                      <a:pPr algn="l"/>
                      <a:r>
                        <a:rPr sz="1575" b="1">
                          <a:solidFill>
                            <a:srgbClr val="FFFFFF"/>
                          </a:solidFill>
                          <a:latin typeface="DejaVu Sans"/>
                          <a:ea typeface="DejaVu Sans"/>
                          <a:cs typeface="DejaVu Sans"/>
                        </a:rPr>
                        <a:t>Year 1</a:t>
                      </a:r>
                    </a:p>
                  </a:txBody>
                  <a:tcPr marL="91440" marR="91440" marT="45720" marB="45720" anchor="ctr">
                    <a:solidFill>
                      <a:srgbClr val="081B22"/>
                    </a:solidFill>
                  </a:tcPr>
                </a:tc>
                <a:tc>
                  <a:txBody>
                    <a:bodyPr lIns="133350" tIns="85725" rIns="95250" bIns="85725"/>
                    <a:lstStyle/>
                    <a:p>
                      <a:pPr algn="l"/>
                      <a:r>
                        <a:rPr sz="1575" b="1">
                          <a:solidFill>
                            <a:srgbClr val="FFFFFF"/>
                          </a:solidFill>
                          <a:latin typeface="DejaVu Sans"/>
                          <a:ea typeface="DejaVu Sans"/>
                          <a:cs typeface="DejaVu Sans"/>
                        </a:rPr>
                        <a:t>Year 2</a:t>
                      </a:r>
                    </a:p>
                  </a:txBody>
                  <a:tcPr marL="91440" marR="91440" marT="45720" marB="45720" anchor="ctr">
                    <a:solidFill>
                      <a:srgbClr val="081B22"/>
                    </a:solidFill>
                  </a:tcPr>
                </a:tc>
                <a:tc>
                  <a:txBody>
                    <a:bodyPr lIns="133350" tIns="85725" rIns="95250" bIns="85725"/>
                    <a:lstStyle/>
                    <a:p>
                      <a:pPr algn="l"/>
                      <a:r>
                        <a:rPr sz="1575" b="1">
                          <a:solidFill>
                            <a:srgbClr val="FFFFFF"/>
                          </a:solidFill>
                          <a:latin typeface="DejaVu Sans"/>
                          <a:ea typeface="DejaVu Sans"/>
                          <a:cs typeface="DejaVu Sans"/>
                        </a:rPr>
                        <a:t>Year 3</a:t>
                      </a:r>
                    </a:p>
                  </a:txBody>
                  <a:tcPr marL="91440" marR="91440" marT="45720" marB="45720" anchor="ctr">
                    <a:solidFill>
                      <a:srgbClr val="081B22"/>
                    </a:solidFill>
                  </a:tcPr>
                </a:tc>
              </a:tr>
              <a:tr h="447675">
                <a:tc>
                  <a:txBody>
                    <a:bodyPr lIns="133350" tIns="85725" rIns="95250" bIns="85725"/>
                    <a:lstStyle/>
                    <a:p>
                      <a:pPr algn="l"/>
                      <a:r>
                        <a:rPr sz="1575" b="1">
                          <a:solidFill>
                            <a:srgbClr val="142C33"/>
                          </a:solidFill>
                          <a:latin typeface="DejaVu Sans"/>
                          <a:ea typeface="DejaVu Sans"/>
                          <a:cs typeface="DejaVu Sans"/>
                        </a:rPr>
                        <a:t>Sites at year-end / site-years</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1 / 0.5</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2 / 1.5</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4 / 3.0</a:t>
                      </a:r>
                    </a:p>
                  </a:txBody>
                  <a:tcPr marL="91440" marR="91440" marT="45720" marB="45720" anchor="ctr">
                    <a:solidFill>
                      <a:srgbClr val="F1F4EF"/>
                    </a:solidFill>
                  </a:tcPr>
                </a:tc>
              </a:tr>
              <a:tr h="447675">
                <a:tc>
                  <a:txBody>
                    <a:bodyPr lIns="133350" tIns="85725" rIns="95250" bIns="85725"/>
                    <a:lstStyle/>
                    <a:p>
                      <a:pPr algn="l"/>
                      <a:r>
                        <a:rPr sz="1575" b="1">
                          <a:solidFill>
                            <a:srgbClr val="142C33"/>
                          </a:solidFill>
                          <a:latin typeface="DejaVu Sans"/>
                          <a:ea typeface="DejaVu Sans"/>
                          <a:cs typeface="DejaVu Sans"/>
                        </a:rPr>
                        <a:t>Sessions/day per operating site</a:t>
                      </a:r>
                    </a:p>
                  </a:txBody>
                  <a:tcPr marL="91440" marR="91440" marT="45720" marB="45720" anchor="ctr">
                    <a:solidFill>
                      <a:srgbClr val="FFFFFF"/>
                    </a:solidFill>
                  </a:tcPr>
                </a:tc>
                <a:tc>
                  <a:txBody>
                    <a:bodyPr lIns="133350" tIns="85725" rIns="95250" bIns="85725"/>
                    <a:lstStyle/>
                    <a:p>
                      <a:pPr algn="l"/>
                      <a:r>
                        <a:rPr sz="1575" b="0">
                          <a:solidFill>
                            <a:srgbClr val="142C33"/>
                          </a:solidFill>
                          <a:latin typeface="DejaVu Sans"/>
                          <a:ea typeface="DejaVu Sans"/>
                          <a:cs typeface="DejaVu Sans"/>
                        </a:rPr>
                        <a:t>12</a:t>
                      </a:r>
                    </a:p>
                  </a:txBody>
                  <a:tcPr marL="91440" marR="91440" marT="45720" marB="45720" anchor="ctr">
                    <a:solidFill>
                      <a:srgbClr val="FFFFFF"/>
                    </a:solidFill>
                  </a:tcPr>
                </a:tc>
                <a:tc>
                  <a:txBody>
                    <a:bodyPr lIns="133350" tIns="85725" rIns="95250" bIns="85725"/>
                    <a:lstStyle/>
                    <a:p>
                      <a:pPr algn="l"/>
                      <a:r>
                        <a:rPr sz="1575" b="0">
                          <a:solidFill>
                            <a:srgbClr val="142C33"/>
                          </a:solidFill>
                          <a:latin typeface="DejaVu Sans"/>
                          <a:ea typeface="DejaVu Sans"/>
                          <a:cs typeface="DejaVu Sans"/>
                        </a:rPr>
                        <a:t>20</a:t>
                      </a:r>
                    </a:p>
                  </a:txBody>
                  <a:tcPr marL="91440" marR="91440" marT="45720" marB="45720" anchor="ctr">
                    <a:solidFill>
                      <a:srgbClr val="FFFFFF"/>
                    </a:solidFill>
                  </a:tcPr>
                </a:tc>
                <a:tc>
                  <a:txBody>
                    <a:bodyPr lIns="133350" tIns="85725" rIns="95250" bIns="85725"/>
                    <a:lstStyle/>
                    <a:p>
                      <a:pPr algn="l"/>
                      <a:r>
                        <a:rPr sz="1575" b="0">
                          <a:solidFill>
                            <a:srgbClr val="142C33"/>
                          </a:solidFill>
                          <a:latin typeface="DejaVu Sans"/>
                          <a:ea typeface="DejaVu Sans"/>
                          <a:cs typeface="DejaVu Sans"/>
                        </a:rPr>
                        <a:t>24</a:t>
                      </a:r>
                    </a:p>
                  </a:txBody>
                  <a:tcPr marL="91440" marR="91440" marT="45720" marB="45720" anchor="ctr">
                    <a:solidFill>
                      <a:srgbClr val="FFFFFF"/>
                    </a:solidFill>
                  </a:tcPr>
                </a:tc>
              </a:tr>
              <a:tr h="447675">
                <a:tc>
                  <a:txBody>
                    <a:bodyPr lIns="133350" tIns="85725" rIns="95250" bIns="85725"/>
                    <a:lstStyle/>
                    <a:p>
                      <a:pPr algn="l"/>
                      <a:r>
                        <a:rPr sz="1575" b="1">
                          <a:solidFill>
                            <a:srgbClr val="142C33"/>
                          </a:solidFill>
                          <a:latin typeface="DejaVu Sans"/>
                          <a:ea typeface="DejaVu Sans"/>
                          <a:cs typeface="DejaVu Sans"/>
                        </a:rPr>
                        <a:t>Revenue</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$0.394</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$1.971</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$4.730</a:t>
                      </a:r>
                    </a:p>
                  </a:txBody>
                  <a:tcPr marL="91440" marR="91440" marT="45720" marB="45720" anchor="ctr">
                    <a:solidFill>
                      <a:srgbClr val="F1F4EF"/>
                    </a:solidFill>
                  </a:tcPr>
                </a:tc>
              </a:tr>
              <a:tr h="447675">
                <a:tc>
                  <a:txBody>
                    <a:bodyPr lIns="133350" tIns="85725" rIns="95250" bIns="85725"/>
                    <a:lstStyle/>
                    <a:p>
                      <a:pPr algn="l"/>
                      <a:r>
                        <a:rPr sz="1575" b="1">
                          <a:solidFill>
                            <a:srgbClr val="142C33"/>
                          </a:solidFill>
                          <a:latin typeface="DejaVu Sans"/>
                          <a:ea typeface="DejaVu Sans"/>
                          <a:cs typeface="DejaVu Sans"/>
                        </a:rPr>
                        <a:t>Site EBITDA</a:t>
                      </a:r>
                    </a:p>
                  </a:txBody>
                  <a:tcPr marL="91440" marR="91440" marT="45720" marB="45720" anchor="ctr">
                    <a:solidFill>
                      <a:srgbClr val="FFFFFF"/>
                    </a:solidFill>
                  </a:tcPr>
                </a:tc>
                <a:tc>
                  <a:txBody>
                    <a:bodyPr lIns="133350" tIns="85725" rIns="95250" bIns="85725"/>
                    <a:lstStyle/>
                    <a:p>
                      <a:pPr algn="l"/>
                      <a:r>
                        <a:rPr sz="1575" b="0">
                          <a:solidFill>
                            <a:srgbClr val="142C33"/>
                          </a:solidFill>
                          <a:latin typeface="DejaVu Sans"/>
                          <a:ea typeface="DejaVu Sans"/>
                          <a:cs typeface="DejaVu Sans"/>
                        </a:rPr>
                        <a:t>$0.044</a:t>
                      </a:r>
                    </a:p>
                  </a:txBody>
                  <a:tcPr marL="91440" marR="91440" marT="45720" marB="45720" anchor="ctr">
                    <a:solidFill>
                      <a:srgbClr val="FFFFFF"/>
                    </a:solidFill>
                  </a:tcPr>
                </a:tc>
                <a:tc>
                  <a:txBody>
                    <a:bodyPr lIns="133350" tIns="85725" rIns="95250" bIns="85725"/>
                    <a:lstStyle/>
                    <a:p>
                      <a:pPr algn="l"/>
                      <a:r>
                        <a:rPr sz="1575" b="0">
                          <a:solidFill>
                            <a:srgbClr val="142C33"/>
                          </a:solidFill>
                          <a:latin typeface="DejaVu Sans"/>
                          <a:ea typeface="DejaVu Sans"/>
                          <a:cs typeface="DejaVu Sans"/>
                        </a:rPr>
                        <a:t>$0.570</a:t>
                      </a:r>
                    </a:p>
                  </a:txBody>
                  <a:tcPr marL="91440" marR="91440" marT="45720" marB="45720" anchor="ctr">
                    <a:solidFill>
                      <a:srgbClr val="FFFFFF"/>
                    </a:solidFill>
                  </a:tcPr>
                </a:tc>
                <a:tc>
                  <a:txBody>
                    <a:bodyPr lIns="133350" tIns="85725" rIns="95250" bIns="85725"/>
                    <a:lstStyle/>
                    <a:p>
                      <a:pPr algn="l"/>
                      <a:r>
                        <a:rPr sz="1575" b="0">
                          <a:solidFill>
                            <a:srgbClr val="142C33"/>
                          </a:solidFill>
                          <a:latin typeface="DejaVu Sans"/>
                          <a:ea typeface="DejaVu Sans"/>
                          <a:cs typeface="DejaVu Sans"/>
                        </a:rPr>
                        <a:t>$1.578</a:t>
                      </a:r>
                    </a:p>
                  </a:txBody>
                  <a:tcPr marL="91440" marR="91440" marT="45720" marB="45720" anchor="ctr">
                    <a:solidFill>
                      <a:srgbClr val="FFFFFF"/>
                    </a:solidFill>
                  </a:tcPr>
                </a:tc>
              </a:tr>
              <a:tr h="447675">
                <a:tc>
                  <a:txBody>
                    <a:bodyPr lIns="133350" tIns="85725" rIns="95250" bIns="85725"/>
                    <a:lstStyle/>
                    <a:p>
                      <a:pPr algn="l"/>
                      <a:r>
                        <a:rPr sz="1575" b="1">
                          <a:solidFill>
                            <a:srgbClr val="142C33"/>
                          </a:solidFill>
                          <a:latin typeface="DejaVu Sans"/>
                          <a:ea typeface="DejaVu Sans"/>
                          <a:cs typeface="DejaVu Sans"/>
                        </a:rPr>
                        <a:t>Corporate overhead</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($0.600)</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($0.800)</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($1.000)</a:t>
                      </a:r>
                    </a:p>
                  </a:txBody>
                  <a:tcPr marL="91440" marR="91440" marT="45720" marB="45720" anchor="ctr">
                    <a:solidFill>
                      <a:srgbClr val="F1F4EF"/>
                    </a:solidFill>
                  </a:tcPr>
                </a:tc>
              </a:tr>
              <a:tr h="447675">
                <a:tc>
                  <a:txBody>
                    <a:bodyPr lIns="133350" tIns="85725" rIns="95250" bIns="85725"/>
                    <a:lstStyle/>
                    <a:p>
                      <a:pPr algn="l"/>
                      <a:r>
                        <a:rPr sz="1575" b="1">
                          <a:solidFill>
                            <a:srgbClr val="142C33"/>
                          </a:solidFill>
                          <a:latin typeface="DejaVu Sans"/>
                          <a:ea typeface="DejaVu Sans"/>
                          <a:cs typeface="DejaVu Sans"/>
                        </a:rPr>
                        <a:t>Consolidated EBITDA</a:t>
                      </a:r>
                    </a:p>
                  </a:txBody>
                  <a:tcPr marL="91440" marR="91440" marT="45720" marB="45720" anchor="ctr">
                    <a:solidFill>
                      <a:srgbClr val="FFFFFF"/>
                    </a:solidFill>
                  </a:tcPr>
                </a:tc>
                <a:tc>
                  <a:txBody>
                    <a:bodyPr lIns="133350" tIns="85725" rIns="95250" bIns="85725"/>
                    <a:lstStyle/>
                    <a:p>
                      <a:pPr algn="l"/>
                      <a:r>
                        <a:rPr sz="1575" b="0">
                          <a:solidFill>
                            <a:srgbClr val="142C33"/>
                          </a:solidFill>
                          <a:latin typeface="DejaVu Sans"/>
                          <a:ea typeface="DejaVu Sans"/>
                          <a:cs typeface="DejaVu Sans"/>
                        </a:rPr>
                        <a:t>($0.556)</a:t>
                      </a:r>
                    </a:p>
                  </a:txBody>
                  <a:tcPr marL="91440" marR="91440" marT="45720" marB="45720" anchor="ctr">
                    <a:solidFill>
                      <a:srgbClr val="FFFFFF"/>
                    </a:solidFill>
                  </a:tcPr>
                </a:tc>
                <a:tc>
                  <a:txBody>
                    <a:bodyPr lIns="133350" tIns="85725" rIns="95250" bIns="85725"/>
                    <a:lstStyle/>
                    <a:p>
                      <a:pPr algn="l"/>
                      <a:r>
                        <a:rPr sz="1575" b="0">
                          <a:solidFill>
                            <a:srgbClr val="142C33"/>
                          </a:solidFill>
                          <a:latin typeface="DejaVu Sans"/>
                          <a:ea typeface="DejaVu Sans"/>
                          <a:cs typeface="DejaVu Sans"/>
                        </a:rPr>
                        <a:t>($0.230)</a:t>
                      </a:r>
                    </a:p>
                  </a:txBody>
                  <a:tcPr marL="91440" marR="91440" marT="45720" marB="45720" anchor="ctr">
                    <a:solidFill>
                      <a:srgbClr val="FFFFFF"/>
                    </a:solidFill>
                  </a:tcPr>
                </a:tc>
                <a:tc>
                  <a:txBody>
                    <a:bodyPr lIns="133350" tIns="85725" rIns="95250" bIns="85725"/>
                    <a:lstStyle/>
                    <a:p>
                      <a:pPr algn="l"/>
                      <a:r>
                        <a:rPr sz="1575" b="0">
                          <a:solidFill>
                            <a:srgbClr val="142C33"/>
                          </a:solidFill>
                          <a:latin typeface="DejaVu Sans"/>
                          <a:ea typeface="DejaVu Sans"/>
                          <a:cs typeface="DejaVu Sans"/>
                        </a:rPr>
                        <a:t>$0.578</a:t>
                      </a:r>
                    </a:p>
                  </a:txBody>
                  <a:tcPr marL="91440" marR="91440" marT="45720" marB="45720" anchor="ctr">
                    <a:solidFill>
                      <a:srgbClr val="FFFFFF"/>
                    </a:solidFill>
                  </a:tcPr>
                </a:tc>
              </a:tr>
              <a:tr h="447675">
                <a:tc>
                  <a:txBody>
                    <a:bodyPr lIns="133350" tIns="85725" rIns="95250" bIns="85725"/>
                    <a:lstStyle/>
                    <a:p>
                      <a:pPr algn="l"/>
                      <a:r>
                        <a:rPr sz="1575" b="1">
                          <a:solidFill>
                            <a:srgbClr val="142C33"/>
                          </a:solidFill>
                          <a:latin typeface="DejaVu Sans"/>
                          <a:ea typeface="DejaVu Sans"/>
                          <a:cs typeface="DejaVu Sans"/>
                        </a:rPr>
                        <a:t>New-site capital spending</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$4.500</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$4.500</a:t>
                      </a:r>
                    </a:p>
                  </a:txBody>
                  <a:tcPr marL="91440" marR="91440" marT="45720" marB="45720" anchor="ctr">
                    <a:solidFill>
                      <a:srgbClr val="F1F4EF"/>
                    </a:solidFill>
                  </a:tcPr>
                </a:tc>
                <a:tc>
                  <a:txBody>
                    <a:bodyPr lIns="133350" tIns="85725" rIns="95250" bIns="85725"/>
                    <a:lstStyle/>
                    <a:p>
                      <a:pPr algn="l"/>
                      <a:r>
                        <a:rPr sz="1575" b="0">
                          <a:solidFill>
                            <a:srgbClr val="142C33"/>
                          </a:solidFill>
                          <a:latin typeface="DejaVu Sans"/>
                          <a:ea typeface="DejaVu Sans"/>
                          <a:cs typeface="DejaVu Sans"/>
                        </a:rPr>
                        <a:t>$9.000</a:t>
                      </a:r>
                    </a:p>
                  </a:txBody>
                  <a:tcPr marL="91440" marR="91440" marT="45720" marB="45720" anchor="ctr">
                    <a:solidFill>
                      <a:srgbClr val="F1F4EF"/>
                    </a:solidFill>
                  </a:tcPr>
                </a:tc>
              </a:tr>
            </a:tbl>
          </a:graphicData>
        </a:graphic>
      </p:graphicFrame>
      <p:sp>
        <p:nvSpPr>
          <p:cNvPr id="6" name="">
            <a:extLst xmlns:a="http://schemas.openxmlformats.org/drawingml/2006/main">
              <a:ext uri="{FF2B5EF4-FFF2-40B4-BE49-F238E27FC236}">
                <a16:creationId xmlns:a16="http://schemas.microsoft.com/office/drawing/2014/main" id="{A56BD85D-0AA9-4C02-ADF3-B2E61C5CD143}"/>
              </a:ext>
            </a:extLst>
          </p:cNvPr>
          <p:cNvSpPr>
            <a:spLocks xmlns:a="http://schemas.openxmlformats.org/drawingml/2006/main" noGrp="1"/>
          </p:cNvSpPr>
          <p:nvPr/>
        </p:nvSpPr>
        <p:spPr>
          <a:xfrm xmlns:a="http://schemas.openxmlformats.org/drawingml/2006/main">
            <a:off x="571500" y="58864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1">
                <a:solidFill>
                  <a:srgbClr val="142C33"/>
                </a:solidFill>
                <a:latin typeface="DejaVu Sans"/>
                <a:ea typeface="DejaVu Sans"/>
                <a:cs typeface="DejaVu Sans"/>
              </a:defRPr>
            </a:pPr>
            <a:r>
              <a:rPr sz="1725" b="1">
                <a:solidFill>
                  <a:srgbClr val="142C33"/>
                </a:solidFill>
                <a:latin typeface="DejaVu Sans"/>
                <a:ea typeface="DejaVu Sans"/>
                <a:cs typeface="DejaVu Sans"/>
              </a:rPr>
              <a:t>~$19.7M indicative cumulative funding gap, including $1.5M development.</a:t>
            </a:r>
          </a:p>
        </p:txBody>
      </p:sp>
      <p:sp>
        <p:nvSpPr>
          <p:cNvPr id="7" name="">
            <a:extLst xmlns:a="http://schemas.openxmlformats.org/drawingml/2006/main">
              <a:ext uri="{FF2B5EF4-FFF2-40B4-BE49-F238E27FC236}">
                <a16:creationId xmlns:a16="http://schemas.microsoft.com/office/drawing/2014/main" id="{FD344894-7B7B-4CEB-8F89-5F7C01690913}"/>
              </a:ext>
            </a:extLst>
          </p:cNvPr>
          <p:cNvSpPr>
            <a:spLocks xmlns:a="http://schemas.openxmlformats.org/drawingml/2006/main" noGrp="1"/>
          </p:cNvSpPr>
          <p:nvPr/>
        </p:nvSpPr>
        <p:spPr>
          <a:xfrm xmlns:a="http://schemas.openxmlformats.org/drawingml/2006/main">
            <a:off x="571500" y="6219825"/>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6676B"/>
                </a:solidFill>
                <a:latin typeface="DejaVu Sans"/>
                <a:ea typeface="DejaVu Sans"/>
                <a:cs typeface="DejaVu Sans"/>
              </a:defRPr>
            </a:pPr>
            <a:r>
              <a:rPr sz="1200" b="0">
                <a:solidFill>
                  <a:srgbClr val="56676B"/>
                </a:solidFill>
                <a:latin typeface="DejaVu Sans"/>
                <a:ea typeface="DejaVu Sans"/>
                <a:cs typeface="DejaVu Sans"/>
              </a:rPr>
              <a:t>Excludes working capital, financing costs and replacement reserves. EBITDA is not cash flow.</a:t>
            </a:r>
          </a:p>
        </p:txBody>
      </p:sp>
    </p:spTree>
    <p:extLst>
      <p:ext uri="{BB962C8B-B14F-4D97-AF65-F5344CB8AC3E}">
        <p14:creationId xmlns:p14="http://schemas.microsoft.com/office/powerpoint/2010/main" val="17389844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0A53526-AC78-4820-8AD5-C57F1EF63524}"/>
              </a:ext>
            </a:extLst>
          </p:cNvPr>
          <p:cNvSpPr>
            <a:spLocks xmlns:a="http://schemas.openxmlformats.org/drawingml/2006/main" noGrp="1"/>
          </p:cNvSpPr>
          <p:nvPr/>
        </p:nvSpPr>
        <p:spPr>
          <a:xfrm xmlns:a="http://schemas.openxmlformats.org/drawingml/2006/main">
            <a:off x="552450" y="466725"/>
            <a:ext cx="1108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42C33"/>
                </a:solidFill>
                <a:latin typeface="DejaVu Sans"/>
                <a:ea typeface="DejaVu Sans"/>
                <a:cs typeface="DejaVu Sans"/>
              </a:defRPr>
            </a:pPr>
            <a:r>
              <a:rPr sz="3300" b="1">
                <a:solidFill>
                  <a:srgbClr val="142C33"/>
                </a:solidFill>
                <a:latin typeface="DejaVu Sans"/>
                <a:ea typeface="DejaVu Sans"/>
                <a:cs typeface="DejaVu Sans"/>
              </a:rPr>
              <a:t>Execution team and investment risks</a:t>
            </a:r>
          </a:p>
        </p:txBody>
      </p:sp>
      <p:sp>
        <p:nvSpPr>
          <p:cNvPr id="2" name="">
            <a:extLst xmlns:a="http://schemas.openxmlformats.org/drawingml/2006/main">
              <a:ext uri="{FF2B5EF4-FFF2-40B4-BE49-F238E27FC236}">
                <a16:creationId xmlns:a16="http://schemas.microsoft.com/office/drawing/2014/main" id="{E892B011-F884-4DBF-B669-C42CA56EC605}"/>
              </a:ext>
            </a:extLst>
          </p:cNvPr>
          <p:cNvSpPr>
            <a:spLocks xmlns:a="http://schemas.openxmlformats.org/drawingml/2006/main" noGrp="1"/>
          </p:cNvSpPr>
          <p:nvPr/>
        </p:nvSpPr>
        <p:spPr>
          <a:xfrm xmlns:a="http://schemas.openxmlformats.org/drawingml/2006/main">
            <a:off x="571500" y="14859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6B"/>
                </a:solidFill>
                <a:latin typeface="DejaVu Sans"/>
                <a:ea typeface="DejaVu Sans"/>
                <a:cs typeface="DejaVu Sans"/>
              </a:defRPr>
            </a:pPr>
            <a:r>
              <a:rPr sz="1725" b="0">
                <a:solidFill>
                  <a:srgbClr val="56676B"/>
                </a:solidFill>
                <a:latin typeface="DejaVu Sans"/>
                <a:ea typeface="DejaVu Sans"/>
                <a:cs typeface="DejaVu Sans"/>
              </a:rPr>
              <a:t>Technology leadership must be paired with power-infrastructure and fleet experience.</a:t>
            </a:r>
          </a:p>
        </p:txBody>
      </p:sp>
      <p:sp>
        <p:nvSpPr>
          <p:cNvPr id="3" name="">
            <a:extLst xmlns:a="http://schemas.openxmlformats.org/drawingml/2006/main">
              <a:ext uri="{FF2B5EF4-FFF2-40B4-BE49-F238E27FC236}">
                <a16:creationId xmlns:a16="http://schemas.microsoft.com/office/drawing/2014/main" id="{3DE9FFC0-B3F5-4284-BB5E-39495892B88A}"/>
              </a:ext>
            </a:extLst>
          </p:cNvPr>
          <p:cNvSpPr>
            <a:spLocks xmlns:a="http://schemas.openxmlformats.org/drawingml/2006/main" noGrp="1"/>
          </p:cNvSpPr>
          <p:nvPr/>
        </p:nvSpPr>
        <p:spPr>
          <a:xfrm xmlns:a="http://schemas.openxmlformats.org/drawingml/2006/main">
            <a:off x="571500"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00" b="0">
                <a:solidFill>
                  <a:srgbClr val="56676B"/>
                </a:solidFill>
                <a:latin typeface="DejaVu Sans"/>
                <a:ea typeface="DejaVu Sans"/>
                <a:cs typeface="DejaVu Sans"/>
              </a:defRPr>
            </a:pPr>
            <a:r>
              <a:rPr sz="900" b="0">
                <a:solidFill>
                  <a:srgbClr val="56676B"/>
                </a:solidFill>
                <a:latin typeface="DejaVu Sans"/>
                <a:ea typeface="DejaVu Sans"/>
                <a:cs typeface="DejaVu Sans"/>
              </a:rPr>
              <a:t>SEMISOCKET  /  INVESTOR DISCUSSION DRAFT</a:t>
            </a:r>
          </a:p>
        </p:txBody>
      </p:sp>
      <p:sp>
        <p:nvSpPr>
          <p:cNvPr id="4" name="">
            <a:extLst xmlns:a="http://schemas.openxmlformats.org/drawingml/2006/main">
              <a:ext uri="{FF2B5EF4-FFF2-40B4-BE49-F238E27FC236}">
                <a16:creationId xmlns:a16="http://schemas.microsoft.com/office/drawing/2014/main" id="{FDCF8F8B-4202-4D84-8D6B-DF22B9BDFD5C}"/>
              </a:ext>
            </a:extLst>
          </p:cNvPr>
          <p:cNvSpPr>
            <a:spLocks xmlns:a="http://schemas.openxmlformats.org/drawingml/2006/main" noGrp="1"/>
          </p:cNvSpPr>
          <p:nvPr/>
        </p:nvSpPr>
        <p:spPr>
          <a:xfrm xmlns:a="http://schemas.openxmlformats.org/drawingml/2006/main">
            <a:off x="11144250"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142C33"/>
                </a:solidFill>
                <a:latin typeface="DejaVu Sans"/>
                <a:ea typeface="DejaVu Sans"/>
                <a:cs typeface="DejaVu Sans"/>
              </a:defRPr>
            </a:pPr>
            <a:r>
              <a:rPr sz="1350" b="1">
                <a:solidFill>
                  <a:srgbClr val="142C33"/>
                </a:solidFill>
                <a:latin typeface="DejaVu Sans"/>
                <a:ea typeface="DejaVu Sans"/>
                <a:cs typeface="DejaVu Sans"/>
              </a:rPr>
              <a:t>09</a:t>
            </a:r>
          </a:p>
        </p:txBody>
      </p:sp>
      <p:sp>
        <p:nvSpPr>
          <p:cNvPr id="5" name="">
            <a:extLst xmlns:a="http://schemas.openxmlformats.org/drawingml/2006/main">
              <a:ext uri="{FF2B5EF4-FFF2-40B4-BE49-F238E27FC236}">
                <a16:creationId xmlns:a16="http://schemas.microsoft.com/office/drawing/2014/main" id="{DBEBAFB7-8BBE-4A58-9349-637E15642A07}"/>
              </a:ext>
            </a:extLst>
          </p:cNvPr>
          <p:cNvSpPr>
            <a:spLocks xmlns:a="http://schemas.openxmlformats.org/drawingml/2006/main" noGrp="1"/>
          </p:cNvSpPr>
          <p:nvPr/>
        </p:nvSpPr>
        <p:spPr>
          <a:xfrm xmlns:a="http://schemas.openxmlformats.org/drawingml/2006/main">
            <a:off x="571500" y="22479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42C33"/>
                </a:solidFill>
                <a:latin typeface="DejaVu Sans"/>
                <a:ea typeface="DejaVu Sans"/>
                <a:cs typeface="DejaVu Sans"/>
              </a:defRPr>
            </a:pPr>
            <a:r>
              <a:rPr sz="2025" b="1">
                <a:solidFill>
                  <a:srgbClr val="142C33"/>
                </a:solidFill>
                <a:latin typeface="DejaVu Sans"/>
                <a:ea typeface="DejaVu Sans"/>
                <a:cs typeface="DejaVu Sans"/>
              </a:rPr>
              <a:t>Nick Schrunk</a:t>
            </a:r>
          </a:p>
        </p:txBody>
      </p:sp>
      <p:sp>
        <p:nvSpPr>
          <p:cNvPr id="6" name="">
            <a:extLst xmlns:a="http://schemas.openxmlformats.org/drawingml/2006/main">
              <a:ext uri="{FF2B5EF4-FFF2-40B4-BE49-F238E27FC236}">
                <a16:creationId xmlns:a16="http://schemas.microsoft.com/office/drawing/2014/main" id="{3A4A57F9-E8DE-46B8-A6CD-C8EBD5AD6CB5}"/>
              </a:ext>
            </a:extLst>
          </p:cNvPr>
          <p:cNvSpPr>
            <a:spLocks xmlns:a="http://schemas.openxmlformats.org/drawingml/2006/main" noGrp="1"/>
          </p:cNvSpPr>
          <p:nvPr/>
        </p:nvSpPr>
        <p:spPr>
          <a:xfrm xmlns:a="http://schemas.openxmlformats.org/drawingml/2006/main">
            <a:off x="571500" y="2705100"/>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6B"/>
                </a:solidFill>
                <a:latin typeface="DejaVu Sans"/>
                <a:ea typeface="DejaVu Sans"/>
                <a:cs typeface="DejaVu Sans"/>
              </a:defRPr>
            </a:pPr>
            <a:r>
              <a:rPr sz="1800" b="0">
                <a:solidFill>
                  <a:srgbClr val="56676B"/>
                </a:solidFill>
                <a:latin typeface="DejaVu Sans"/>
                <a:ea typeface="DejaVu Sans"/>
                <a:cs typeface="DejaVu Sans"/>
              </a:rPr>
              <a:t>Project lead. Technology entrepreneur and IT leader. Proposed focus: platform, partnerships and commercial development.</a:t>
            </a:r>
          </a:p>
        </p:txBody>
      </p:sp>
      <p:sp>
        <p:nvSpPr>
          <p:cNvPr id="7" name="">
            <a:extLst xmlns:a="http://schemas.openxmlformats.org/drawingml/2006/main">
              <a:ext uri="{FF2B5EF4-FFF2-40B4-BE49-F238E27FC236}">
                <a16:creationId xmlns:a16="http://schemas.microsoft.com/office/drawing/2014/main" id="{2184AFF2-AD80-4CEF-8290-F2BB77270EC2}"/>
              </a:ext>
            </a:extLst>
          </p:cNvPr>
          <p:cNvSpPr>
            <a:spLocks xmlns:a="http://schemas.openxmlformats.org/drawingml/2006/main" noGrp="1"/>
          </p:cNvSpPr>
          <p:nvPr/>
        </p:nvSpPr>
        <p:spPr>
          <a:xfrm xmlns:a="http://schemas.openxmlformats.org/drawingml/2006/main">
            <a:off x="571500" y="41910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42C33"/>
                </a:solidFill>
                <a:latin typeface="DejaVu Sans"/>
                <a:ea typeface="DejaVu Sans"/>
                <a:cs typeface="DejaVu Sans"/>
              </a:defRPr>
            </a:pPr>
            <a:r>
              <a:rPr sz="2025" b="1">
                <a:solidFill>
                  <a:srgbClr val="142C33"/>
                </a:solidFill>
                <a:latin typeface="DejaVu Sans"/>
                <a:ea typeface="DejaVu Sans"/>
                <a:cs typeface="DejaVu Sans"/>
              </a:rPr>
              <a:t>Priority hires and partners</a:t>
            </a:r>
          </a:p>
        </p:txBody>
      </p:sp>
      <p:sp>
        <p:nvSpPr>
          <p:cNvPr id="8" name="">
            <a:extLst xmlns:a="http://schemas.openxmlformats.org/drawingml/2006/main">
              <a:ext uri="{FF2B5EF4-FFF2-40B4-BE49-F238E27FC236}">
                <a16:creationId xmlns:a16="http://schemas.microsoft.com/office/drawing/2014/main" id="{D38B109B-BCD9-48E1-8471-3732CB9891D0}"/>
              </a:ext>
            </a:extLst>
          </p:cNvPr>
          <p:cNvSpPr>
            <a:spLocks xmlns:a="http://schemas.openxmlformats.org/drawingml/2006/main" noGrp="1"/>
          </p:cNvSpPr>
          <p:nvPr/>
        </p:nvSpPr>
        <p:spPr>
          <a:xfrm xmlns:a="http://schemas.openxmlformats.org/drawingml/2006/main">
            <a:off x="571500" y="4648200"/>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6676B"/>
                </a:solidFill>
                <a:latin typeface="DejaVu Sans"/>
                <a:ea typeface="DejaVu Sans"/>
                <a:cs typeface="DejaVu Sans"/>
              </a:defRPr>
            </a:pPr>
            <a:r>
              <a:rPr sz="1800" b="0">
                <a:solidFill>
                  <a:srgbClr val="56676B"/>
                </a:solidFill>
                <a:latin typeface="DejaVu Sans"/>
                <a:ea typeface="DejaVu Sans"/>
                <a:cs typeface="DejaVu Sans"/>
              </a:rPr>
              <a:t>Charging development lead, utility engineer and fleet sales lead. Contract qualified construction and maintenance teams.</a:t>
            </a:r>
          </a:p>
        </p:txBody>
      </p:sp>
      <p:sp>
        <p:nvSpPr>
          <p:cNvPr id="9" name="">
            <a:extLst xmlns:a="http://schemas.openxmlformats.org/drawingml/2006/main">
              <a:ext uri="{FF2B5EF4-FFF2-40B4-BE49-F238E27FC236}">
                <a16:creationId xmlns:a16="http://schemas.microsoft.com/office/drawing/2014/main" id="{A85CA570-CD68-47AE-ACAC-0E9ACAD3B94F}"/>
              </a:ext>
            </a:extLst>
          </p:cNvPr>
          <p:cNvSpPr>
            <a:spLocks xmlns:a="http://schemas.openxmlformats.org/drawingml/2006/main" noGrp="1"/>
          </p:cNvSpPr>
          <p:nvPr/>
        </p:nvSpPr>
        <p:spPr>
          <a:xfrm xmlns:a="http://schemas.openxmlformats.org/drawingml/2006/main">
            <a:off x="6267450" y="2266950"/>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42C33"/>
                </a:solidFill>
                <a:latin typeface="DejaVu Sans"/>
                <a:ea typeface="DejaVu Sans"/>
                <a:cs typeface="DejaVu Sans"/>
              </a:defRPr>
            </a:pPr>
            <a:r>
              <a:rPr sz="2025" b="1">
                <a:solidFill>
                  <a:srgbClr val="142C33"/>
                </a:solidFill>
                <a:latin typeface="DejaVu Sans"/>
                <a:ea typeface="DejaVu Sans"/>
                <a:cs typeface="DejaVu Sans"/>
              </a:rPr>
              <a:t>Risk</a:t>
            </a:r>
          </a:p>
        </p:txBody>
      </p:sp>
      <p:sp>
        <p:nvSpPr>
          <p:cNvPr id="10" name="">
            <a:extLst xmlns:a="http://schemas.openxmlformats.org/drawingml/2006/main">
              <a:ext uri="{FF2B5EF4-FFF2-40B4-BE49-F238E27FC236}">
                <a16:creationId xmlns:a16="http://schemas.microsoft.com/office/drawing/2014/main" id="{A60B7683-7B1A-421E-B00C-E935B110A4B5}"/>
              </a:ext>
            </a:extLst>
          </p:cNvPr>
          <p:cNvSpPr>
            <a:spLocks xmlns:a="http://schemas.openxmlformats.org/drawingml/2006/main" noGrp="1"/>
          </p:cNvSpPr>
          <p:nvPr/>
        </p:nvSpPr>
        <p:spPr>
          <a:xfrm xmlns:a="http://schemas.openxmlformats.org/drawingml/2006/main">
            <a:off x="8420100" y="2266950"/>
            <a:ext cx="314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42C33"/>
                </a:solidFill>
                <a:latin typeface="DejaVu Sans"/>
                <a:ea typeface="DejaVu Sans"/>
                <a:cs typeface="DejaVu Sans"/>
              </a:defRPr>
            </a:pPr>
            <a:r>
              <a:rPr sz="2025" b="1">
                <a:solidFill>
                  <a:srgbClr val="142C33"/>
                </a:solidFill>
                <a:latin typeface="DejaVu Sans"/>
                <a:ea typeface="DejaVu Sans"/>
                <a:cs typeface="DejaVu Sans"/>
              </a:rPr>
              <a:t>Planned control</a:t>
            </a:r>
          </a:p>
        </p:txBody>
      </p:sp>
      <p:sp>
        <p:nvSpPr>
          <p:cNvPr id="11" name="">
            <a:extLst xmlns:a="http://schemas.openxmlformats.org/drawingml/2006/main">
              <a:ext uri="{FF2B5EF4-FFF2-40B4-BE49-F238E27FC236}">
                <a16:creationId xmlns:a16="http://schemas.microsoft.com/office/drawing/2014/main" id="{87199425-BF33-4C78-9378-F9BD5E05786C}"/>
              </a:ext>
            </a:extLst>
          </p:cNvPr>
          <p:cNvSpPr>
            <a:spLocks xmlns:a="http://schemas.openxmlformats.org/drawingml/2006/main" noGrp="1"/>
          </p:cNvSpPr>
          <p:nvPr/>
        </p:nvSpPr>
        <p:spPr>
          <a:xfrm xmlns:a="http://schemas.openxmlformats.org/drawingml/2006/main">
            <a:off x="6267450" y="279082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42C33"/>
                </a:solidFill>
                <a:latin typeface="DejaVu Sans"/>
                <a:ea typeface="DejaVu Sans"/>
                <a:cs typeface="DejaVu Sans"/>
              </a:defRPr>
            </a:pPr>
            <a:r>
              <a:rPr sz="1575" b="1">
                <a:solidFill>
                  <a:srgbClr val="142C33"/>
                </a:solidFill>
                <a:latin typeface="DejaVu Sans"/>
                <a:ea typeface="DejaVu Sans"/>
                <a:cs typeface="DejaVu Sans"/>
              </a:rPr>
              <a:t>Slow fleet adoption</a:t>
            </a:r>
          </a:p>
        </p:txBody>
      </p:sp>
      <p:sp>
        <p:nvSpPr>
          <p:cNvPr id="12" name="">
            <a:extLst xmlns:a="http://schemas.openxmlformats.org/drawingml/2006/main">
              <a:ext uri="{FF2B5EF4-FFF2-40B4-BE49-F238E27FC236}">
                <a16:creationId xmlns:a16="http://schemas.microsoft.com/office/drawing/2014/main" id="{D29855B5-439F-48E6-B48B-7A5B4E603D74}"/>
              </a:ext>
            </a:extLst>
          </p:cNvPr>
          <p:cNvSpPr>
            <a:spLocks xmlns:a="http://schemas.openxmlformats.org/drawingml/2006/main" noGrp="1"/>
          </p:cNvSpPr>
          <p:nvPr/>
        </p:nvSpPr>
        <p:spPr>
          <a:xfrm xmlns:a="http://schemas.openxmlformats.org/drawingml/2006/main">
            <a:off x="8420100" y="2790825"/>
            <a:ext cx="319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6676B"/>
                </a:solidFill>
                <a:latin typeface="DejaVu Sans"/>
                <a:ea typeface="DejaVu Sans"/>
                <a:cs typeface="DejaVu Sans"/>
              </a:defRPr>
            </a:pPr>
            <a:r>
              <a:rPr sz="1575" b="0">
                <a:solidFill>
                  <a:srgbClr val="56676B"/>
                </a:solidFill>
                <a:latin typeface="DejaVu Sans"/>
                <a:ea typeface="DejaVu Sans"/>
                <a:cs typeface="DejaVu Sans"/>
              </a:rPr>
              <a:t>Minimum-volume contracts</a:t>
            </a:r>
          </a:p>
        </p:txBody>
      </p:sp>
      <p:sp>
        <p:nvSpPr>
          <p:cNvPr id="13" name="">
            <a:extLst xmlns:a="http://schemas.openxmlformats.org/drawingml/2006/main">
              <a:ext uri="{FF2B5EF4-FFF2-40B4-BE49-F238E27FC236}">
                <a16:creationId xmlns:a16="http://schemas.microsoft.com/office/drawing/2014/main" id="{AFE8D60B-F306-41EC-AAEC-42DDCF21B957}"/>
              </a:ext>
            </a:extLst>
          </p:cNvPr>
          <p:cNvSpPr>
            <a:spLocks xmlns:a="http://schemas.openxmlformats.org/drawingml/2006/main" noGrp="1"/>
          </p:cNvSpPr>
          <p:nvPr/>
        </p:nvSpPr>
        <p:spPr>
          <a:xfrm xmlns:a="http://schemas.openxmlformats.org/drawingml/2006/main">
            <a:off x="6267450" y="3409950"/>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42C33"/>
                </a:solidFill>
                <a:latin typeface="DejaVu Sans"/>
                <a:ea typeface="DejaVu Sans"/>
                <a:cs typeface="DejaVu Sans"/>
              </a:defRPr>
            </a:pPr>
            <a:r>
              <a:rPr sz="1575" b="1">
                <a:solidFill>
                  <a:srgbClr val="142C33"/>
                </a:solidFill>
                <a:latin typeface="DejaVu Sans"/>
                <a:ea typeface="DejaVu Sans"/>
                <a:cs typeface="DejaVu Sans"/>
              </a:rPr>
              <a:t>Utility delays / tariffs</a:t>
            </a:r>
          </a:p>
        </p:txBody>
      </p:sp>
      <p:sp>
        <p:nvSpPr>
          <p:cNvPr id="14" name="">
            <a:extLst xmlns:a="http://schemas.openxmlformats.org/drawingml/2006/main">
              <a:ext uri="{FF2B5EF4-FFF2-40B4-BE49-F238E27FC236}">
                <a16:creationId xmlns:a16="http://schemas.microsoft.com/office/drawing/2014/main" id="{33566CB6-003D-4A21-A4DF-D47F9A265D30}"/>
              </a:ext>
            </a:extLst>
          </p:cNvPr>
          <p:cNvSpPr>
            <a:spLocks xmlns:a="http://schemas.openxmlformats.org/drawingml/2006/main" noGrp="1"/>
          </p:cNvSpPr>
          <p:nvPr/>
        </p:nvSpPr>
        <p:spPr>
          <a:xfrm xmlns:a="http://schemas.openxmlformats.org/drawingml/2006/main">
            <a:off x="8420100" y="3409950"/>
            <a:ext cx="319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6676B"/>
                </a:solidFill>
                <a:latin typeface="DejaVu Sans"/>
                <a:ea typeface="DejaVu Sans"/>
                <a:cs typeface="DejaVu Sans"/>
              </a:defRPr>
            </a:pPr>
            <a:r>
              <a:rPr sz="1575" b="0">
                <a:solidFill>
                  <a:srgbClr val="56676B"/>
                </a:solidFill>
                <a:latin typeface="DejaVu Sans"/>
                <a:ea typeface="DejaVu Sans"/>
                <a:cs typeface="DejaVu Sans"/>
              </a:rPr>
              <a:t>Written power and rate studies</a:t>
            </a:r>
          </a:p>
        </p:txBody>
      </p:sp>
      <p:sp>
        <p:nvSpPr>
          <p:cNvPr id="15" name="">
            <a:extLst xmlns:a="http://schemas.openxmlformats.org/drawingml/2006/main">
              <a:ext uri="{FF2B5EF4-FFF2-40B4-BE49-F238E27FC236}">
                <a16:creationId xmlns:a16="http://schemas.microsoft.com/office/drawing/2014/main" id="{15ADDD0E-7E7D-4367-93B5-99C17816C773}"/>
              </a:ext>
            </a:extLst>
          </p:cNvPr>
          <p:cNvSpPr>
            <a:spLocks xmlns:a="http://schemas.openxmlformats.org/drawingml/2006/main" noGrp="1"/>
          </p:cNvSpPr>
          <p:nvPr/>
        </p:nvSpPr>
        <p:spPr>
          <a:xfrm xmlns:a="http://schemas.openxmlformats.org/drawingml/2006/main">
            <a:off x="6267450" y="402907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42C33"/>
                </a:solidFill>
                <a:latin typeface="DejaVu Sans"/>
                <a:ea typeface="DejaVu Sans"/>
                <a:cs typeface="DejaVu Sans"/>
              </a:defRPr>
            </a:pPr>
            <a:r>
              <a:rPr sz="1575" b="1">
                <a:solidFill>
                  <a:srgbClr val="142C33"/>
                </a:solidFill>
                <a:latin typeface="DejaVu Sans"/>
                <a:ea typeface="DejaVu Sans"/>
                <a:cs typeface="DejaVu Sans"/>
              </a:rPr>
              <a:t>Construction overruns</a:t>
            </a:r>
          </a:p>
        </p:txBody>
      </p:sp>
      <p:sp>
        <p:nvSpPr>
          <p:cNvPr id="16" name="">
            <a:extLst xmlns:a="http://schemas.openxmlformats.org/drawingml/2006/main">
              <a:ext uri="{FF2B5EF4-FFF2-40B4-BE49-F238E27FC236}">
                <a16:creationId xmlns:a16="http://schemas.microsoft.com/office/drawing/2014/main" id="{14FFEDF7-5BA5-4B84-9111-32CD4AE4532B}"/>
              </a:ext>
            </a:extLst>
          </p:cNvPr>
          <p:cNvSpPr>
            <a:spLocks xmlns:a="http://schemas.openxmlformats.org/drawingml/2006/main" noGrp="1"/>
          </p:cNvSpPr>
          <p:nvPr/>
        </p:nvSpPr>
        <p:spPr>
          <a:xfrm xmlns:a="http://schemas.openxmlformats.org/drawingml/2006/main">
            <a:off x="8420100" y="4029075"/>
            <a:ext cx="319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6676B"/>
                </a:solidFill>
                <a:latin typeface="DejaVu Sans"/>
                <a:ea typeface="DejaVu Sans"/>
                <a:cs typeface="DejaVu Sans"/>
              </a:defRPr>
            </a:pPr>
            <a:r>
              <a:rPr sz="1575" b="0">
                <a:solidFill>
                  <a:srgbClr val="56676B"/>
                </a:solidFill>
                <a:latin typeface="DejaVu Sans"/>
                <a:ea typeface="DejaVu Sans"/>
                <a:cs typeface="DejaVu Sans"/>
              </a:rPr>
              <a:t>Priced scope and contingency</a:t>
            </a:r>
          </a:p>
        </p:txBody>
      </p:sp>
      <p:sp>
        <p:nvSpPr>
          <p:cNvPr id="17" name="">
            <a:extLst xmlns:a="http://schemas.openxmlformats.org/drawingml/2006/main">
              <a:ext uri="{FF2B5EF4-FFF2-40B4-BE49-F238E27FC236}">
                <a16:creationId xmlns:a16="http://schemas.microsoft.com/office/drawing/2014/main" id="{6265CDCA-588B-4730-BA6A-B6DF753464B4}"/>
              </a:ext>
            </a:extLst>
          </p:cNvPr>
          <p:cNvSpPr>
            <a:spLocks xmlns:a="http://schemas.openxmlformats.org/drawingml/2006/main" noGrp="1"/>
          </p:cNvSpPr>
          <p:nvPr/>
        </p:nvSpPr>
        <p:spPr>
          <a:xfrm xmlns:a="http://schemas.openxmlformats.org/drawingml/2006/main">
            <a:off x="6267450" y="4648200"/>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42C33"/>
                </a:solidFill>
                <a:latin typeface="DejaVu Sans"/>
                <a:ea typeface="DejaVu Sans"/>
                <a:cs typeface="DejaVu Sans"/>
              </a:defRPr>
            </a:pPr>
            <a:r>
              <a:rPr sz="1575" b="1">
                <a:solidFill>
                  <a:srgbClr val="142C33"/>
                </a:solidFill>
                <a:latin typeface="DejaVu Sans"/>
                <a:ea typeface="DejaVu Sans"/>
                <a:cs typeface="DejaVu Sans"/>
              </a:rPr>
              <a:t>Downtime / compatibility</a:t>
            </a:r>
          </a:p>
        </p:txBody>
      </p:sp>
      <p:sp>
        <p:nvSpPr>
          <p:cNvPr id="18" name="">
            <a:extLst xmlns:a="http://schemas.openxmlformats.org/drawingml/2006/main">
              <a:ext uri="{FF2B5EF4-FFF2-40B4-BE49-F238E27FC236}">
                <a16:creationId xmlns:a16="http://schemas.microsoft.com/office/drawing/2014/main" id="{2BF1C3DB-4822-4A1E-AD47-BAA1763B5681}"/>
              </a:ext>
            </a:extLst>
          </p:cNvPr>
          <p:cNvSpPr>
            <a:spLocks xmlns:a="http://schemas.openxmlformats.org/drawingml/2006/main" noGrp="1"/>
          </p:cNvSpPr>
          <p:nvPr/>
        </p:nvSpPr>
        <p:spPr>
          <a:xfrm xmlns:a="http://schemas.openxmlformats.org/drawingml/2006/main">
            <a:off x="8420100" y="4648200"/>
            <a:ext cx="319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6676B"/>
                </a:solidFill>
                <a:latin typeface="DejaVu Sans"/>
                <a:ea typeface="DejaVu Sans"/>
                <a:cs typeface="DejaVu Sans"/>
              </a:defRPr>
            </a:pPr>
            <a:r>
              <a:rPr sz="1575" b="0">
                <a:solidFill>
                  <a:srgbClr val="56676B"/>
                </a:solidFill>
                <a:latin typeface="DejaVu Sans"/>
                <a:ea typeface="DejaVu Sans"/>
                <a:cs typeface="DejaVu Sans"/>
              </a:rPr>
              <a:t>Service contract and truck tests</a:t>
            </a:r>
          </a:p>
        </p:txBody>
      </p:sp>
      <p:sp>
        <p:nvSpPr>
          <p:cNvPr id="19" name="">
            <a:extLst xmlns:a="http://schemas.openxmlformats.org/drawingml/2006/main">
              <a:ext uri="{FF2B5EF4-FFF2-40B4-BE49-F238E27FC236}">
                <a16:creationId xmlns:a16="http://schemas.microsoft.com/office/drawing/2014/main" id="{1FA3F3D0-9501-4D38-AA64-3F62D28756C1}"/>
              </a:ext>
            </a:extLst>
          </p:cNvPr>
          <p:cNvSpPr>
            <a:spLocks xmlns:a="http://schemas.openxmlformats.org/drawingml/2006/main" noGrp="1"/>
          </p:cNvSpPr>
          <p:nvPr/>
        </p:nvSpPr>
        <p:spPr>
          <a:xfrm xmlns:a="http://schemas.openxmlformats.org/drawingml/2006/main">
            <a:off x="6267450" y="5267325"/>
            <a:ext cx="2047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1">
                <a:solidFill>
                  <a:srgbClr val="142C33"/>
                </a:solidFill>
                <a:latin typeface="DejaVu Sans"/>
                <a:ea typeface="DejaVu Sans"/>
                <a:cs typeface="DejaVu Sans"/>
              </a:defRPr>
            </a:pPr>
            <a:r>
              <a:rPr sz="1575" b="1">
                <a:solidFill>
                  <a:srgbClr val="142C33"/>
                </a:solidFill>
                <a:latin typeface="DejaVu Sans"/>
                <a:ea typeface="DejaVu Sans"/>
                <a:cs typeface="DejaVu Sans"/>
              </a:rPr>
              <a:t>Capital availability</a:t>
            </a:r>
          </a:p>
        </p:txBody>
      </p:sp>
      <p:sp>
        <p:nvSpPr>
          <p:cNvPr id="20" name="">
            <a:extLst xmlns:a="http://schemas.openxmlformats.org/drawingml/2006/main">
              <a:ext uri="{FF2B5EF4-FFF2-40B4-BE49-F238E27FC236}">
                <a16:creationId xmlns:a16="http://schemas.microsoft.com/office/drawing/2014/main" id="{A6BE57AD-3F57-43A9-9A15-324431FE1CCB}"/>
              </a:ext>
            </a:extLst>
          </p:cNvPr>
          <p:cNvSpPr>
            <a:spLocks xmlns:a="http://schemas.openxmlformats.org/drawingml/2006/main" noGrp="1"/>
          </p:cNvSpPr>
          <p:nvPr/>
        </p:nvSpPr>
        <p:spPr>
          <a:xfrm xmlns:a="http://schemas.openxmlformats.org/drawingml/2006/main">
            <a:off x="8420100" y="5267325"/>
            <a:ext cx="319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6676B"/>
                </a:solidFill>
                <a:latin typeface="DejaVu Sans"/>
                <a:ea typeface="DejaVu Sans"/>
                <a:cs typeface="DejaVu Sans"/>
              </a:defRPr>
            </a:pPr>
            <a:r>
              <a:rPr sz="1575" b="0">
                <a:solidFill>
                  <a:srgbClr val="56676B"/>
                </a:solidFill>
                <a:latin typeface="DejaVu Sans"/>
                <a:ea typeface="DejaVu Sans"/>
                <a:cs typeface="DejaVu Sans"/>
              </a:rPr>
              <a:t>Stage gates before expansion</a:t>
            </a:r>
          </a:p>
        </p:txBody>
      </p:sp>
    </p:spTree>
    <p:extLst>
      <p:ext uri="{BB962C8B-B14F-4D97-AF65-F5344CB8AC3E}">
        <p14:creationId xmlns:p14="http://schemas.microsoft.com/office/powerpoint/2010/main" val="16383851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C7D918-ED4E-4D14-99AE-A29A1A217D82}"/>
              </a:ext>
            </a:extLst>
          </p:cNvPr>
          <p:cNvSpPr>
            <a:spLocks xmlns:a="http://schemas.openxmlformats.org/drawingml/2006/main" noGrp="1"/>
          </p:cNvSpPr>
          <p:nvPr/>
        </p:nvSpPr>
        <p:spPr>
          <a:xfrm xmlns:a="http://schemas.openxmlformats.org/drawingml/2006/main">
            <a:off x="552450" y="466725"/>
            <a:ext cx="11087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42C33"/>
                </a:solidFill>
                <a:latin typeface="DejaVu Sans"/>
                <a:ea typeface="DejaVu Sans"/>
                <a:cs typeface="DejaVu Sans"/>
              </a:defRPr>
            </a:pPr>
            <a:r>
              <a:rPr sz="3300" b="1">
                <a:solidFill>
                  <a:srgbClr val="142C33"/>
                </a:solidFill>
                <a:latin typeface="DejaVu Sans"/>
                <a:ea typeface="DejaVu Sans"/>
                <a:cs typeface="DejaVu Sans"/>
              </a:rPr>
              <a:t>Proposed investment and use of funds</a:t>
            </a:r>
          </a:p>
        </p:txBody>
      </p:sp>
      <p:sp>
        <p:nvSpPr>
          <p:cNvPr id="2" name="">
            <a:extLst xmlns:a="http://schemas.openxmlformats.org/drawingml/2006/main">
              <a:ext uri="{FF2B5EF4-FFF2-40B4-BE49-F238E27FC236}">
                <a16:creationId xmlns:a16="http://schemas.microsoft.com/office/drawing/2014/main" id="{0B0B1F5F-5FCD-49E0-BEB3-84E1E3033030}"/>
              </a:ext>
            </a:extLst>
          </p:cNvPr>
          <p:cNvSpPr>
            <a:spLocks xmlns:a="http://schemas.openxmlformats.org/drawingml/2006/main" noGrp="1"/>
          </p:cNvSpPr>
          <p:nvPr/>
        </p:nvSpPr>
        <p:spPr>
          <a:xfrm xmlns:a="http://schemas.openxmlformats.org/drawingml/2006/main">
            <a:off x="571500" y="1485900"/>
            <a:ext cx="1100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6B"/>
                </a:solidFill>
                <a:latin typeface="DejaVu Sans"/>
                <a:ea typeface="DejaVu Sans"/>
                <a:cs typeface="DejaVu Sans"/>
              </a:defRPr>
            </a:pPr>
            <a:r>
              <a:rPr sz="1725" b="0">
                <a:solidFill>
                  <a:srgbClr val="56676B"/>
                </a:solidFill>
                <a:latin typeface="DejaVu Sans"/>
                <a:ea typeface="DejaVu Sans"/>
                <a:cs typeface="DejaVu Sans"/>
              </a:rPr>
              <a:t>Draft development raise: $1.5M. Separate pilot construction requirement: $4.5M.</a:t>
            </a:r>
          </a:p>
        </p:txBody>
      </p:sp>
      <p:sp>
        <p:nvSpPr>
          <p:cNvPr id="3" name="">
            <a:extLst xmlns:a="http://schemas.openxmlformats.org/drawingml/2006/main">
              <a:ext uri="{FF2B5EF4-FFF2-40B4-BE49-F238E27FC236}">
                <a16:creationId xmlns:a16="http://schemas.microsoft.com/office/drawing/2014/main" id="{D236A77E-1CB4-48C1-9543-F403F9B83249}"/>
              </a:ext>
            </a:extLst>
          </p:cNvPr>
          <p:cNvSpPr>
            <a:spLocks xmlns:a="http://schemas.openxmlformats.org/drawingml/2006/main" noGrp="1"/>
          </p:cNvSpPr>
          <p:nvPr/>
        </p:nvSpPr>
        <p:spPr>
          <a:xfrm xmlns:a="http://schemas.openxmlformats.org/drawingml/2006/main">
            <a:off x="571500" y="645795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00" b="0">
                <a:solidFill>
                  <a:srgbClr val="56676B"/>
                </a:solidFill>
                <a:latin typeface="DejaVu Sans"/>
                <a:ea typeface="DejaVu Sans"/>
                <a:cs typeface="DejaVu Sans"/>
              </a:defRPr>
            </a:pPr>
            <a:r>
              <a:rPr sz="900" b="0">
                <a:solidFill>
                  <a:srgbClr val="56676B"/>
                </a:solidFill>
                <a:latin typeface="DejaVu Sans"/>
                <a:ea typeface="DejaVu Sans"/>
                <a:cs typeface="DejaVu Sans"/>
              </a:rPr>
              <a:t>SEMISOCKET  /  INVESTOR DISCUSSION DRAFT</a:t>
            </a:r>
          </a:p>
        </p:txBody>
      </p:sp>
      <p:sp>
        <p:nvSpPr>
          <p:cNvPr id="4" name="">
            <a:extLst xmlns:a="http://schemas.openxmlformats.org/drawingml/2006/main">
              <a:ext uri="{FF2B5EF4-FFF2-40B4-BE49-F238E27FC236}">
                <a16:creationId xmlns:a16="http://schemas.microsoft.com/office/drawing/2014/main" id="{1CCB2D50-B0CB-4E01-BB77-481AE785ECA5}"/>
              </a:ext>
            </a:extLst>
          </p:cNvPr>
          <p:cNvSpPr>
            <a:spLocks xmlns:a="http://schemas.openxmlformats.org/drawingml/2006/main" noGrp="1"/>
          </p:cNvSpPr>
          <p:nvPr/>
        </p:nvSpPr>
        <p:spPr>
          <a:xfrm xmlns:a="http://schemas.openxmlformats.org/drawingml/2006/main">
            <a:off x="11144250" y="64103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142C33"/>
                </a:solidFill>
                <a:latin typeface="DejaVu Sans"/>
                <a:ea typeface="DejaVu Sans"/>
                <a:cs typeface="DejaVu Sans"/>
              </a:defRPr>
            </a:pPr>
            <a:r>
              <a:rPr sz="1350" b="1">
                <a:solidFill>
                  <a:srgbClr val="142C33"/>
                </a:solidFill>
                <a:latin typeface="DejaVu Sans"/>
                <a:ea typeface="DejaVu Sans"/>
                <a:cs typeface="DejaVu Sans"/>
              </a:rPr>
              <a:t>10</a:t>
            </a:r>
          </a:p>
        </p:txBody>
      </p:sp>
      <p:graphicFrame>
        <p:nvGraphicFramePr>
          <p:cNvPr id="14" name=""/>
          <p:cNvGraphicFramePr/>
          <p:nvPr/>
        </p:nvGraphicFramePr>
        <p:xfrm>
          <a:off xmlns:a="http://schemas.openxmlformats.org/drawingml/2006/main" x="571500" y="2257425"/>
          <a:ext xmlns:a="http://schemas.openxmlformats.org/drawingml/2006/main" cx="6315075" cy="3124200"/>
        </p:xfrm>
        <a:graphic xmlns:a="http://schemas.openxmlformats.org/drawingml/2006/main">
          <a:graphicData uri="http://schemas.openxmlformats.org/drawingml/2006/table">
            <a:tbl>
              <a:tblPr/>
              <a:tblGrid>
                <a:gridCol w="4752975"/>
                <a:gridCol w="1562100"/>
              </a:tblGrid>
              <a:tr h="520700">
                <a:tc>
                  <a:txBody>
                    <a:bodyPr lIns="133350" tIns="85725" rIns="95250" bIns="85725"/>
                    <a:lstStyle/>
                    <a:p>
                      <a:pPr algn="l"/>
                      <a:r>
                        <a:rPr sz="1650" b="1">
                          <a:solidFill>
                            <a:srgbClr val="FFFFFF"/>
                          </a:solidFill>
                          <a:latin typeface="DejaVu Sans"/>
                          <a:ea typeface="DejaVu Sans"/>
                          <a:cs typeface="DejaVu Sans"/>
                        </a:rPr>
                        <a:t>Development use</a:t>
                      </a:r>
                    </a:p>
                  </a:txBody>
                  <a:tcPr marL="91440" marR="91440" marT="45720" marB="45720" anchor="ctr">
                    <a:solidFill>
                      <a:srgbClr val="081B22"/>
                    </a:solidFill>
                  </a:tcPr>
                </a:tc>
                <a:tc>
                  <a:txBody>
                    <a:bodyPr lIns="133350" tIns="85725" rIns="95250" bIns="85725"/>
                    <a:lstStyle/>
                    <a:p>
                      <a:pPr algn="l"/>
                      <a:r>
                        <a:rPr sz="1650" b="1">
                          <a:solidFill>
                            <a:srgbClr val="FFFFFF"/>
                          </a:solidFill>
                          <a:latin typeface="DejaVu Sans"/>
                          <a:ea typeface="DejaVu Sans"/>
                          <a:cs typeface="DejaVu Sans"/>
                        </a:rPr>
                        <a:t>USD</a:t>
                      </a:r>
                    </a:p>
                  </a:txBody>
                  <a:tcPr marL="91440" marR="91440" marT="45720" marB="45720" anchor="ctr">
                    <a:solidFill>
                      <a:srgbClr val="081B22"/>
                    </a:solidFill>
                  </a:tcPr>
                </a:tc>
              </a:tr>
              <a:tr h="520700">
                <a:tc>
                  <a:txBody>
                    <a:bodyPr lIns="133350" tIns="85725" rIns="95250" bIns="85725"/>
                    <a:lstStyle/>
                    <a:p>
                      <a:pPr algn="l"/>
                      <a:r>
                        <a:rPr sz="1650" b="1">
                          <a:solidFill>
                            <a:srgbClr val="142C33"/>
                          </a:solidFill>
                          <a:latin typeface="DejaVu Sans"/>
                          <a:ea typeface="DejaVu Sans"/>
                          <a:cs typeface="DejaVu Sans"/>
                        </a:rPr>
                        <a:t>Team and fleet development</a:t>
                      </a:r>
                    </a:p>
                  </a:txBody>
                  <a:tcPr marL="91440" marR="91440" marT="45720" marB="45720" anchor="ctr">
                    <a:solidFill>
                      <a:srgbClr val="F1F4EF"/>
                    </a:solidFill>
                  </a:tcPr>
                </a:tc>
                <a:tc>
                  <a:txBody>
                    <a:bodyPr lIns="133350" tIns="85725" rIns="95250" bIns="85725"/>
                    <a:lstStyle/>
                    <a:p>
                      <a:pPr algn="l"/>
                      <a:r>
                        <a:rPr sz="1650" b="0">
                          <a:solidFill>
                            <a:srgbClr val="142C33"/>
                          </a:solidFill>
                          <a:latin typeface="DejaVu Sans"/>
                          <a:ea typeface="DejaVu Sans"/>
                          <a:cs typeface="DejaVu Sans"/>
                        </a:rPr>
                        <a:t>$600K</a:t>
                      </a:r>
                    </a:p>
                  </a:txBody>
                  <a:tcPr marL="91440" marR="91440" marT="45720" marB="45720" anchor="ctr">
                    <a:solidFill>
                      <a:srgbClr val="F1F4EF"/>
                    </a:solidFill>
                  </a:tcPr>
                </a:tc>
              </a:tr>
              <a:tr h="520700">
                <a:tc>
                  <a:txBody>
                    <a:bodyPr lIns="133350" tIns="85725" rIns="95250" bIns="85725"/>
                    <a:lstStyle/>
                    <a:p>
                      <a:pPr algn="l"/>
                      <a:r>
                        <a:rPr sz="1650" b="1">
                          <a:solidFill>
                            <a:srgbClr val="142C33"/>
                          </a:solidFill>
                          <a:latin typeface="DejaVu Sans"/>
                          <a:ea typeface="DejaVu Sans"/>
                          <a:cs typeface="DejaVu Sans"/>
                        </a:rPr>
                        <a:t>Site options, studies and permits</a:t>
                      </a:r>
                    </a:p>
                  </a:txBody>
                  <a:tcPr marL="91440" marR="91440" marT="45720" marB="45720" anchor="ctr">
                    <a:solidFill>
                      <a:srgbClr val="FFFFFF"/>
                    </a:solidFill>
                  </a:tcPr>
                </a:tc>
                <a:tc>
                  <a:txBody>
                    <a:bodyPr lIns="133350" tIns="85725" rIns="95250" bIns="85725"/>
                    <a:lstStyle/>
                    <a:p>
                      <a:pPr algn="l"/>
                      <a:r>
                        <a:rPr sz="1650" b="0">
                          <a:solidFill>
                            <a:srgbClr val="142C33"/>
                          </a:solidFill>
                          <a:latin typeface="DejaVu Sans"/>
                          <a:ea typeface="DejaVu Sans"/>
                          <a:cs typeface="DejaVu Sans"/>
                        </a:rPr>
                        <a:t>$450K</a:t>
                      </a:r>
                    </a:p>
                  </a:txBody>
                  <a:tcPr marL="91440" marR="91440" marT="45720" marB="45720" anchor="ctr">
                    <a:solidFill>
                      <a:srgbClr val="FFFFFF"/>
                    </a:solidFill>
                  </a:tcPr>
                </a:tc>
              </a:tr>
              <a:tr h="520700">
                <a:tc>
                  <a:txBody>
                    <a:bodyPr lIns="133350" tIns="85725" rIns="95250" bIns="85725"/>
                    <a:lstStyle/>
                    <a:p>
                      <a:pPr algn="l"/>
                      <a:r>
                        <a:rPr sz="1650" b="1">
                          <a:solidFill>
                            <a:srgbClr val="142C33"/>
                          </a:solidFill>
                          <a:latin typeface="DejaVu Sans"/>
                          <a:ea typeface="DejaVu Sans"/>
                          <a:cs typeface="DejaVu Sans"/>
                        </a:rPr>
                        <a:t>Software, legal and insurance</a:t>
                      </a:r>
                    </a:p>
                  </a:txBody>
                  <a:tcPr marL="91440" marR="91440" marT="45720" marB="45720" anchor="ctr">
                    <a:solidFill>
                      <a:srgbClr val="F1F4EF"/>
                    </a:solidFill>
                  </a:tcPr>
                </a:tc>
                <a:tc>
                  <a:txBody>
                    <a:bodyPr lIns="133350" tIns="85725" rIns="95250" bIns="85725"/>
                    <a:lstStyle/>
                    <a:p>
                      <a:pPr algn="l"/>
                      <a:r>
                        <a:rPr sz="1650" b="0">
                          <a:solidFill>
                            <a:srgbClr val="142C33"/>
                          </a:solidFill>
                          <a:latin typeface="DejaVu Sans"/>
                          <a:ea typeface="DejaVu Sans"/>
                          <a:cs typeface="DejaVu Sans"/>
                        </a:rPr>
                        <a:t>$250K</a:t>
                      </a:r>
                    </a:p>
                  </a:txBody>
                  <a:tcPr marL="91440" marR="91440" marT="45720" marB="45720" anchor="ctr">
                    <a:solidFill>
                      <a:srgbClr val="F1F4EF"/>
                    </a:solidFill>
                  </a:tcPr>
                </a:tc>
              </a:tr>
              <a:tr h="520700">
                <a:tc>
                  <a:txBody>
                    <a:bodyPr lIns="133350" tIns="85725" rIns="95250" bIns="85725"/>
                    <a:lstStyle/>
                    <a:p>
                      <a:pPr algn="l"/>
                      <a:r>
                        <a:rPr sz="1650" b="1">
                          <a:solidFill>
                            <a:srgbClr val="142C33"/>
                          </a:solidFill>
                          <a:latin typeface="DejaVu Sans"/>
                          <a:ea typeface="DejaVu Sans"/>
                          <a:cs typeface="DejaVu Sans"/>
                        </a:rPr>
                        <a:t>Contingency</a:t>
                      </a:r>
                    </a:p>
                  </a:txBody>
                  <a:tcPr marL="91440" marR="91440" marT="45720" marB="45720" anchor="ctr">
                    <a:solidFill>
                      <a:srgbClr val="FFFFFF"/>
                    </a:solidFill>
                  </a:tcPr>
                </a:tc>
                <a:tc>
                  <a:txBody>
                    <a:bodyPr lIns="133350" tIns="85725" rIns="95250" bIns="85725"/>
                    <a:lstStyle/>
                    <a:p>
                      <a:pPr algn="l"/>
                      <a:r>
                        <a:rPr sz="1650" b="0">
                          <a:solidFill>
                            <a:srgbClr val="142C33"/>
                          </a:solidFill>
                          <a:latin typeface="DejaVu Sans"/>
                          <a:ea typeface="DejaVu Sans"/>
                          <a:cs typeface="DejaVu Sans"/>
                        </a:rPr>
                        <a:t>$200K</a:t>
                      </a:r>
                    </a:p>
                  </a:txBody>
                  <a:tcPr marL="91440" marR="91440" marT="45720" marB="45720" anchor="ctr">
                    <a:solidFill>
                      <a:srgbClr val="FFFFFF"/>
                    </a:solidFill>
                  </a:tcPr>
                </a:tc>
              </a:tr>
              <a:tr h="520700">
                <a:tc>
                  <a:txBody>
                    <a:bodyPr lIns="133350" tIns="85725" rIns="95250" bIns="85725"/>
                    <a:lstStyle/>
                    <a:p>
                      <a:pPr algn="l"/>
                      <a:r>
                        <a:rPr sz="1650" b="1">
                          <a:solidFill>
                            <a:srgbClr val="142C33"/>
                          </a:solidFill>
                          <a:latin typeface="DejaVu Sans"/>
                          <a:ea typeface="DejaVu Sans"/>
                          <a:cs typeface="DejaVu Sans"/>
                        </a:rPr>
                        <a:t>Total proposed raise</a:t>
                      </a:r>
                    </a:p>
                  </a:txBody>
                  <a:tcPr marL="91440" marR="91440" marT="45720" marB="45720" anchor="ctr">
                    <a:solidFill>
                      <a:srgbClr val="F1F4EF"/>
                    </a:solidFill>
                  </a:tcPr>
                </a:tc>
                <a:tc>
                  <a:txBody>
                    <a:bodyPr lIns="133350" tIns="85725" rIns="95250" bIns="85725"/>
                    <a:lstStyle/>
                    <a:p>
                      <a:pPr algn="l"/>
                      <a:r>
                        <a:rPr sz="1650" b="0">
                          <a:solidFill>
                            <a:srgbClr val="142C33"/>
                          </a:solidFill>
                          <a:latin typeface="DejaVu Sans"/>
                          <a:ea typeface="DejaVu Sans"/>
                          <a:cs typeface="DejaVu Sans"/>
                        </a:rPr>
                        <a:t>$1.50M</a:t>
                      </a:r>
                    </a:p>
                  </a:txBody>
                  <a:tcPr marL="91440" marR="91440" marT="45720" marB="45720" anchor="ctr">
                    <a:solidFill>
                      <a:srgbClr val="F1F4EF"/>
                    </a:solidFill>
                  </a:tcPr>
                </a:tc>
              </a:tr>
            </a:tbl>
          </a:graphicData>
        </a:graphic>
      </p:graphicFrame>
      <p:sp>
        <p:nvSpPr>
          <p:cNvPr id="6" name="">
            <a:extLst xmlns:a="http://schemas.openxmlformats.org/drawingml/2006/main">
              <a:ext uri="{FF2B5EF4-FFF2-40B4-BE49-F238E27FC236}">
                <a16:creationId xmlns:a16="http://schemas.microsoft.com/office/drawing/2014/main" id="{2D343C2F-EDA5-47CB-B80F-AAFF2361C519}"/>
              </a:ext>
            </a:extLst>
          </p:cNvPr>
          <p:cNvSpPr>
            <a:spLocks xmlns:a="http://schemas.openxmlformats.org/drawingml/2006/main" noGrp="1"/>
          </p:cNvSpPr>
          <p:nvPr/>
        </p:nvSpPr>
        <p:spPr>
          <a:xfrm xmlns:a="http://schemas.openxmlformats.org/drawingml/2006/main">
            <a:off x="7477125" y="2295525"/>
            <a:ext cx="4143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142C33"/>
                </a:solidFill>
                <a:latin typeface="DejaVu Sans"/>
                <a:ea typeface="DejaVu Sans"/>
                <a:cs typeface="DejaVu Sans"/>
              </a:defRPr>
            </a:pPr>
            <a:r>
              <a:rPr sz="2325" b="1">
                <a:solidFill>
                  <a:srgbClr val="142C33"/>
                </a:solidFill>
                <a:latin typeface="DejaVu Sans"/>
                <a:ea typeface="DejaVu Sans"/>
                <a:cs typeface="DejaVu Sans"/>
              </a:rPr>
              <a:t>The next investable milestone</a:t>
            </a:r>
          </a:p>
        </p:txBody>
      </p:sp>
      <p:sp>
        <p:nvSpPr>
          <p:cNvPr id="7" name="">
            <a:extLst xmlns:a="http://schemas.openxmlformats.org/drawingml/2006/main">
              <a:ext uri="{FF2B5EF4-FFF2-40B4-BE49-F238E27FC236}">
                <a16:creationId xmlns:a16="http://schemas.microsoft.com/office/drawing/2014/main" id="{30329668-9C33-40E6-B680-A99E54A6BF1B}"/>
              </a:ext>
            </a:extLst>
          </p:cNvPr>
          <p:cNvSpPr>
            <a:spLocks xmlns:a="http://schemas.openxmlformats.org/drawingml/2006/main" noGrp="1"/>
          </p:cNvSpPr>
          <p:nvPr/>
        </p:nvSpPr>
        <p:spPr>
          <a:xfrm xmlns:a="http://schemas.openxmlformats.org/drawingml/2006/main">
            <a:off x="7477125" y="3209925"/>
            <a:ext cx="4143375"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56676B"/>
                </a:solidFill>
                <a:latin typeface="DejaVu Sans"/>
                <a:ea typeface="DejaVu Sans"/>
                <a:cs typeface="DejaVu Sans"/>
              </a:defRPr>
            </a:pPr>
            <a:r>
              <a:rPr sz="1950" b="0">
                <a:solidFill>
                  <a:srgbClr val="56676B"/>
                </a:solidFill>
                <a:latin typeface="DejaVu Sans"/>
                <a:ea typeface="DejaVu Sans"/>
                <a:cs typeface="DejaVu Sans"/>
              </a:rPr>
              <a:t>A pilot with site control, a priced utility connection, fleet volume contracts and a complete construction budget.</a:t>
            </a:r>
          </a:p>
        </p:txBody>
      </p:sp>
      <p:sp>
        <p:nvSpPr>
          <p:cNvPr id="8" name="">
            <a:extLst xmlns:a="http://schemas.openxmlformats.org/drawingml/2006/main">
              <a:ext uri="{FF2B5EF4-FFF2-40B4-BE49-F238E27FC236}">
                <a16:creationId xmlns:a16="http://schemas.microsoft.com/office/drawing/2014/main" id="{59076614-13A1-47AF-B2C4-0349B152E788}"/>
              </a:ext>
            </a:extLst>
          </p:cNvPr>
          <p:cNvSpPr>
            <a:spLocks xmlns:a="http://schemas.openxmlformats.org/drawingml/2006/main" noGrp="1"/>
          </p:cNvSpPr>
          <p:nvPr/>
        </p:nvSpPr>
        <p:spPr>
          <a:xfrm xmlns:a="http://schemas.openxmlformats.org/drawingml/2006/main">
            <a:off x="571500" y="5686425"/>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42C33"/>
                </a:solidFill>
                <a:latin typeface="DejaVu Sans"/>
                <a:ea typeface="DejaVu Sans"/>
                <a:cs typeface="DejaVu Sans"/>
              </a:defRPr>
            </a:pPr>
            <a:r>
              <a:rPr sz="1800" b="1">
                <a:solidFill>
                  <a:srgbClr val="142C33"/>
                </a:solidFill>
                <a:latin typeface="DejaVu Sans"/>
                <a:ea typeface="DejaVu Sans"/>
                <a:cs typeface="DejaVu Sans"/>
              </a:rPr>
              <a:t>Funding structure and terms remain open for founder and investor review.</a:t>
            </a:r>
          </a:p>
        </p:txBody>
      </p:sp>
      <p:sp>
        <p:nvSpPr>
          <p:cNvPr id="9" name="">
            <a:extLst xmlns:a="http://schemas.openxmlformats.org/drawingml/2006/main">
              <a:ext uri="{FF2B5EF4-FFF2-40B4-BE49-F238E27FC236}">
                <a16:creationId xmlns:a16="http://schemas.microsoft.com/office/drawing/2014/main" id="{2722381E-77DC-4AA1-9069-8BB576CBAF44}"/>
              </a:ext>
            </a:extLst>
          </p:cNvPr>
          <p:cNvSpPr>
            <a:spLocks xmlns:a="http://schemas.openxmlformats.org/drawingml/2006/main" noGrp="1"/>
          </p:cNvSpPr>
          <p:nvPr/>
        </p:nvSpPr>
        <p:spPr>
          <a:xfrm xmlns:a="http://schemas.openxmlformats.org/drawingml/2006/main">
            <a:off x="571500" y="6096000"/>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142C33"/>
                </a:solidFill>
                <a:latin typeface="DejaVu Sans"/>
                <a:ea typeface="DejaVu Sans"/>
                <a:cs typeface="DejaVu Sans"/>
              </a:defRPr>
            </a:pPr>
            <a:r>
              <a:rPr sz="1650" b="0">
                <a:solidFill>
                  <a:srgbClr val="142C33"/>
                </a:solidFill>
                <a:latin typeface="DejaVu Sans"/>
                <a:ea typeface="DejaVu Sans"/>
                <a:cs typeface="DejaVu Sans"/>
              </a:rPr>
              <a:t>semisocket.com</a:t>
            </a:r>
          </a:p>
        </p:txBody>
      </p:sp>
    </p:spTree>
    <p:extLst>
      <p:ext uri="{BB962C8B-B14F-4D97-AF65-F5344CB8AC3E}">
        <p14:creationId xmlns:p14="http://schemas.microsoft.com/office/powerpoint/2010/main" val="3667896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2026-09-29T05:04:13.7820000Z</dcterms:created>
  <dcterms:modified xsi:type="dcterms:W3CDTF">2026-09-29T05:04:13.7820000Z</dcterms:modified>
</coreProperties>
</file>